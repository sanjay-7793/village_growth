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Josefin Sans Medium"/>
      <p:regular r:id="rId15"/>
      <p:bold r:id="rId16"/>
      <p:italic r:id="rId17"/>
      <p:boldItalic r:id="rId18"/>
    </p:embeddedFont>
    <p:embeddedFont>
      <p:font typeface="Montserrat"/>
      <p:regular r:id="rId19"/>
      <p:bold r:id="rId20"/>
      <p:italic r:id="rId21"/>
      <p:boldItalic r:id="rId22"/>
    </p:embeddedFont>
    <p:embeddedFont>
      <p:font typeface="Josefin Sans"/>
      <p:regular r:id="rId23"/>
      <p:bold r:id="rId24"/>
      <p:italic r:id="rId25"/>
      <p:boldItalic r:id="rId26"/>
    </p:embeddedFont>
    <p:embeddedFont>
      <p:font typeface="Josefin Sans SemiBold"/>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A8D01C-19A1-4183-8F4B-27D5D766EF26}">
  <a:tblStyle styleId="{CDA8D01C-19A1-4183-8F4B-27D5D766EF2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Montserrat-boldItalic.fntdata"/><Relationship Id="rId21" Type="http://schemas.openxmlformats.org/officeDocument/2006/relationships/font" Target="fonts/Montserrat-italic.fntdata"/><Relationship Id="rId24" Type="http://schemas.openxmlformats.org/officeDocument/2006/relationships/font" Target="fonts/JosefinSans-bold.fntdata"/><Relationship Id="rId23" Type="http://schemas.openxmlformats.org/officeDocument/2006/relationships/font" Target="fonts/Josefin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JosefinSans-boldItalic.fntdata"/><Relationship Id="rId25" Type="http://schemas.openxmlformats.org/officeDocument/2006/relationships/font" Target="fonts/JosefinSans-italic.fntdata"/><Relationship Id="rId28" Type="http://schemas.openxmlformats.org/officeDocument/2006/relationships/font" Target="fonts/JosefinSansSemiBold-bold.fntdata"/><Relationship Id="rId27" Type="http://schemas.openxmlformats.org/officeDocument/2006/relationships/font" Target="fonts/JosefinSansSemiBo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JosefinSansSemiBold-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JosefinSansSemiBol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JosefinSansMedium-regular.fntdata"/><Relationship Id="rId14" Type="http://schemas.openxmlformats.org/officeDocument/2006/relationships/slide" Target="slides/slide8.xml"/><Relationship Id="rId17" Type="http://schemas.openxmlformats.org/officeDocument/2006/relationships/font" Target="fonts/JosefinSansMedium-italic.fntdata"/><Relationship Id="rId16" Type="http://schemas.openxmlformats.org/officeDocument/2006/relationships/font" Target="fonts/JosefinSansMedium-bold.fntdata"/><Relationship Id="rId19" Type="http://schemas.openxmlformats.org/officeDocument/2006/relationships/font" Target="fonts/Montserrat-regular.fntdata"/><Relationship Id="rId18" Type="http://schemas.openxmlformats.org/officeDocument/2006/relationships/font" Target="fonts/JosefinSans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436a2b29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436a2b29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e436a2b290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e436a2b290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436a2b290_0_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436a2b290_0_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436a2b290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436a2b290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436a2b290_0_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436a2b290_0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436a2b290_0_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e436a2b290_0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436a2b290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436a2b290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50825" y="41150"/>
            <a:ext cx="9040500" cy="580800"/>
          </a:xfrm>
          <a:prstGeom prst="rect">
            <a:avLst/>
          </a:prstGeom>
          <a:solidFill>
            <a:srgbClr val="FFFFFF">
              <a:alpha val="46540"/>
            </a:srgbClr>
          </a:solidFill>
          <a:ln>
            <a:noFill/>
          </a:ln>
          <a:effectLst>
            <a:outerShdw blurRad="57150" rotWithShape="0" algn="bl" dir="5400000" dist="19050">
              <a:srgbClr val="000000">
                <a:alpha val="41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Josefin Sans"/>
                <a:ea typeface="Josefin Sans"/>
                <a:cs typeface="Josefin Sans"/>
                <a:sym typeface="Josefin Sans"/>
              </a:rPr>
              <a:t>Title and The Problem Statement </a:t>
            </a:r>
            <a:endParaRPr b="1" sz="2400">
              <a:latin typeface="Josefin Sans"/>
              <a:ea typeface="Josefin Sans"/>
              <a:cs typeface="Josefin Sans"/>
              <a:sym typeface="Josefin Sans"/>
            </a:endParaRPr>
          </a:p>
        </p:txBody>
      </p:sp>
      <p:sp>
        <p:nvSpPr>
          <p:cNvPr id="55" name="Google Shape;55;p13"/>
          <p:cNvSpPr txBox="1"/>
          <p:nvPr/>
        </p:nvSpPr>
        <p:spPr>
          <a:xfrm>
            <a:off x="50825" y="1895625"/>
            <a:ext cx="5433300" cy="477000"/>
          </a:xfrm>
          <a:prstGeom prst="rect">
            <a:avLst/>
          </a:prstGeom>
          <a:gradFill>
            <a:gsLst>
              <a:gs pos="0">
                <a:srgbClr val="9EAFB8"/>
              </a:gs>
              <a:gs pos="100000">
                <a:srgbClr val="616D73"/>
              </a:gs>
            </a:gsLst>
            <a:lin ang="5400012" scaled="0"/>
          </a:gra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Josefin Sans"/>
                <a:ea typeface="Josefin Sans"/>
                <a:cs typeface="Josefin Sans"/>
                <a:sym typeface="Josefin Sans"/>
              </a:rPr>
              <a:t>Project: Village Economic Growth Intelligence</a:t>
            </a:r>
            <a:endParaRPr b="1" sz="1900">
              <a:solidFill>
                <a:schemeClr val="lt1"/>
              </a:solidFill>
              <a:latin typeface="Josefin Sans"/>
              <a:ea typeface="Josefin Sans"/>
              <a:cs typeface="Josefin Sans"/>
              <a:sym typeface="Josefin Sans"/>
            </a:endParaRPr>
          </a:p>
        </p:txBody>
      </p:sp>
      <p:sp>
        <p:nvSpPr>
          <p:cNvPr id="56" name="Google Shape;56;p13"/>
          <p:cNvSpPr txBox="1"/>
          <p:nvPr/>
        </p:nvSpPr>
        <p:spPr>
          <a:xfrm>
            <a:off x="50825" y="3363567"/>
            <a:ext cx="5433300" cy="1354500"/>
          </a:xfrm>
          <a:prstGeom prst="rect">
            <a:avLst/>
          </a:prstGeom>
          <a:gradFill>
            <a:gsLst>
              <a:gs pos="0">
                <a:srgbClr val="7A7A7A"/>
              </a:gs>
              <a:gs pos="100000">
                <a:srgbClr val="393939"/>
              </a:gs>
            </a:gsLst>
            <a:lin ang="5400012" scaled="0"/>
          </a:gra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Josefin Sans"/>
                <a:ea typeface="Josefin Sans"/>
                <a:cs typeface="Josefin Sans"/>
                <a:sym typeface="Josefin Sans"/>
              </a:rPr>
              <a:t>Task:</a:t>
            </a:r>
            <a:r>
              <a:rPr lang="en" sz="1900">
                <a:solidFill>
                  <a:schemeClr val="lt1"/>
                </a:solidFill>
                <a:latin typeface="Josefin Sans Medium"/>
                <a:ea typeface="Josefin Sans Medium"/>
                <a:cs typeface="Josefin Sans Medium"/>
                <a:sym typeface="Josefin Sans Medium"/>
              </a:rPr>
              <a:t> </a:t>
            </a:r>
            <a:r>
              <a:rPr lang="en" sz="1900">
                <a:solidFill>
                  <a:schemeClr val="lt1"/>
                </a:solidFill>
                <a:latin typeface="Montserrat"/>
                <a:ea typeface="Montserrat"/>
                <a:cs typeface="Montserrat"/>
                <a:sym typeface="Montserrat"/>
              </a:rPr>
              <a:t>To identify and rank the top 100 economically growing villages using multi-temporal satellite imagery and open-source geospatial datasets. </a:t>
            </a:r>
            <a:endParaRPr sz="1900">
              <a:solidFill>
                <a:schemeClr val="lt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50825" y="41150"/>
            <a:ext cx="9040500" cy="580800"/>
          </a:xfrm>
          <a:prstGeom prst="rect">
            <a:avLst/>
          </a:prstGeom>
          <a:solidFill>
            <a:srgbClr val="B7B7B7"/>
          </a:solidFill>
          <a:ln>
            <a:noFill/>
          </a:ln>
          <a:effectLst>
            <a:outerShdw blurRad="57150" rotWithShape="0" algn="bl" dir="5400000" dist="19050">
              <a:srgbClr val="000000">
                <a:alpha val="41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Josefin Sans"/>
                <a:ea typeface="Josefin Sans"/>
                <a:cs typeface="Josefin Sans"/>
                <a:sym typeface="Josefin Sans"/>
              </a:rPr>
              <a:t>Study A</a:t>
            </a:r>
            <a:r>
              <a:rPr b="1" lang="en" sz="2400">
                <a:latin typeface="Josefin Sans"/>
                <a:ea typeface="Josefin Sans"/>
                <a:cs typeface="Josefin Sans"/>
                <a:sym typeface="Josefin Sans"/>
              </a:rPr>
              <a:t>rea</a:t>
            </a:r>
            <a:r>
              <a:rPr b="1" lang="en" sz="2400">
                <a:latin typeface="Josefin Sans"/>
                <a:ea typeface="Josefin Sans"/>
                <a:cs typeface="Josefin Sans"/>
                <a:sym typeface="Josefin Sans"/>
              </a:rPr>
              <a:t> and Prototyping Strategy</a:t>
            </a:r>
            <a:r>
              <a:rPr b="1" lang="en" sz="2400">
                <a:latin typeface="Josefin Sans"/>
                <a:ea typeface="Josefin Sans"/>
                <a:cs typeface="Josefin Sans"/>
                <a:sym typeface="Josefin Sans"/>
              </a:rPr>
              <a:t> </a:t>
            </a:r>
            <a:endParaRPr b="1" sz="2400">
              <a:latin typeface="Josefin Sans"/>
              <a:ea typeface="Josefin Sans"/>
              <a:cs typeface="Josefin Sans"/>
              <a:sym typeface="Josefin Sans"/>
            </a:endParaRPr>
          </a:p>
        </p:txBody>
      </p:sp>
      <p:pic>
        <p:nvPicPr>
          <p:cNvPr id="62" name="Google Shape;62;p14" title="KA.jpg"/>
          <p:cNvPicPr preferRelativeResize="0"/>
          <p:nvPr/>
        </p:nvPicPr>
        <p:blipFill rotWithShape="1">
          <a:blip r:embed="rId3">
            <a:alphaModFix/>
          </a:blip>
          <a:srcRect b="0" l="0" r="0" t="0"/>
          <a:stretch/>
        </p:blipFill>
        <p:spPr>
          <a:xfrm>
            <a:off x="78325" y="663225"/>
            <a:ext cx="4493676" cy="3177187"/>
          </a:xfrm>
          <a:prstGeom prst="rect">
            <a:avLst/>
          </a:prstGeom>
          <a:noFill/>
          <a:ln>
            <a:noFill/>
          </a:ln>
        </p:spPr>
      </p:pic>
      <p:sp>
        <p:nvSpPr>
          <p:cNvPr id="63" name="Google Shape;63;p14"/>
          <p:cNvSpPr txBox="1"/>
          <p:nvPr/>
        </p:nvSpPr>
        <p:spPr>
          <a:xfrm>
            <a:off x="4735025" y="726150"/>
            <a:ext cx="4146600" cy="2770500"/>
          </a:xfrm>
          <a:prstGeom prst="rect">
            <a:avLst/>
          </a:prstGeom>
          <a:solidFill>
            <a:schemeClr val="lt2"/>
          </a:solid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Josefin Sans"/>
              <a:buChar char="●"/>
            </a:pPr>
            <a:r>
              <a:rPr lang="en">
                <a:solidFill>
                  <a:schemeClr val="dk1"/>
                </a:solidFill>
                <a:latin typeface="Josefin Sans"/>
                <a:ea typeface="Josefin Sans"/>
                <a:cs typeface="Josefin Sans"/>
                <a:sym typeface="Josefin Sans"/>
              </a:rPr>
              <a:t>India has more than 600,000 villages. </a:t>
            </a:r>
            <a:endParaRPr>
              <a:solidFill>
                <a:schemeClr val="dk1"/>
              </a:solidFill>
              <a:latin typeface="Josefin Sans"/>
              <a:ea typeface="Josefin Sans"/>
              <a:cs typeface="Josefin Sans"/>
              <a:sym typeface="Josefin Sans"/>
            </a:endParaRPr>
          </a:p>
          <a:p>
            <a:pPr indent="-317500" lvl="0" marL="457200" rtl="0" algn="l">
              <a:spcBef>
                <a:spcPts val="0"/>
              </a:spcBef>
              <a:spcAft>
                <a:spcPts val="0"/>
              </a:spcAft>
              <a:buClr>
                <a:schemeClr val="dk1"/>
              </a:buClr>
              <a:buSzPts val="1400"/>
              <a:buFont typeface="Josefin Sans"/>
              <a:buChar char="●"/>
            </a:pPr>
            <a:r>
              <a:rPr lang="en">
                <a:solidFill>
                  <a:schemeClr val="dk1"/>
                </a:solidFill>
                <a:latin typeface="Josefin Sans"/>
                <a:ea typeface="Josefin Sans"/>
                <a:cs typeface="Josefin Sans"/>
                <a:sym typeface="Josefin Sans"/>
              </a:rPr>
              <a:t>Processing satellite imagery over such a vast geographical extent requires significant computational resources and processing time. </a:t>
            </a:r>
            <a:endParaRPr>
              <a:solidFill>
                <a:schemeClr val="dk1"/>
              </a:solidFill>
              <a:latin typeface="Josefin Sans"/>
              <a:ea typeface="Josefin Sans"/>
              <a:cs typeface="Josefin Sans"/>
              <a:sym typeface="Josefin Sans"/>
            </a:endParaRPr>
          </a:p>
          <a:p>
            <a:pPr indent="-317500" lvl="0" marL="457200" rtl="0" algn="l">
              <a:spcBef>
                <a:spcPts val="0"/>
              </a:spcBef>
              <a:spcAft>
                <a:spcPts val="0"/>
              </a:spcAft>
              <a:buClr>
                <a:schemeClr val="dk1"/>
              </a:buClr>
              <a:buSzPts val="1400"/>
              <a:buFont typeface="Josefin Sans"/>
              <a:buChar char="●"/>
            </a:pPr>
            <a:r>
              <a:rPr lang="en">
                <a:solidFill>
                  <a:schemeClr val="dk1"/>
                </a:solidFill>
                <a:latin typeface="Josefin Sans"/>
                <a:ea typeface="Josefin Sans"/>
                <a:cs typeface="Josefin Sans"/>
                <a:sym typeface="Josefin Sans"/>
              </a:rPr>
              <a:t>Therefore, this study developed a scalable methodology, which was tested across six randomly selected districts of Karnataka covering more than 9,000 villages.</a:t>
            </a:r>
            <a:endParaRPr>
              <a:solidFill>
                <a:schemeClr val="dk1"/>
              </a:solidFill>
              <a:latin typeface="Josefin Sans"/>
              <a:ea typeface="Josefin Sans"/>
              <a:cs typeface="Josefin Sans"/>
              <a:sym typeface="Josefin Sans"/>
            </a:endParaRPr>
          </a:p>
          <a:p>
            <a:pPr indent="-317500" lvl="0" marL="457200" rtl="0" algn="l">
              <a:spcBef>
                <a:spcPts val="0"/>
              </a:spcBef>
              <a:spcAft>
                <a:spcPts val="0"/>
              </a:spcAft>
              <a:buClr>
                <a:schemeClr val="dk1"/>
              </a:buClr>
              <a:buSzPts val="1400"/>
              <a:buFont typeface="Josefin Sans"/>
              <a:buChar char="●"/>
            </a:pPr>
            <a:r>
              <a:rPr lang="en">
                <a:solidFill>
                  <a:schemeClr val="dk1"/>
                </a:solidFill>
                <a:latin typeface="Josefin Sans"/>
                <a:ea typeface="Josefin Sans"/>
                <a:cs typeface="Josefin Sans"/>
                <a:sym typeface="Josefin Sans"/>
              </a:rPr>
              <a:t>The selected districts are Hassan, Mandya, Mysuru, Raichur, Tumakuru, and Yadgir, which are highlighted in the map </a:t>
            </a:r>
            <a:endParaRPr>
              <a:solidFill>
                <a:schemeClr val="dk1"/>
              </a:solidFill>
              <a:latin typeface="Josefin Sans"/>
              <a:ea typeface="Josefin Sans"/>
              <a:cs typeface="Josefin Sans"/>
              <a:sym typeface="Josefin Sans"/>
            </a:endParaRPr>
          </a:p>
        </p:txBody>
      </p:sp>
      <p:sp>
        <p:nvSpPr>
          <p:cNvPr id="64" name="Google Shape;64;p14"/>
          <p:cNvSpPr txBox="1"/>
          <p:nvPr/>
        </p:nvSpPr>
        <p:spPr>
          <a:xfrm>
            <a:off x="173475" y="3771608"/>
            <a:ext cx="4146600" cy="2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Montserrat"/>
                <a:ea typeface="Montserrat"/>
                <a:cs typeface="Montserrat"/>
                <a:sym typeface="Montserrat"/>
              </a:rPr>
              <a:t>Fig 1: Selected districts of Karnataka</a:t>
            </a:r>
            <a:endParaRPr sz="1300">
              <a:solidFill>
                <a:schemeClr val="dk1"/>
              </a:solidFill>
              <a:latin typeface="Montserrat"/>
              <a:ea typeface="Montserrat"/>
              <a:cs typeface="Montserrat"/>
              <a:sym typeface="Montserrat"/>
            </a:endParaRPr>
          </a:p>
        </p:txBody>
      </p:sp>
      <p:sp>
        <p:nvSpPr>
          <p:cNvPr id="65" name="Google Shape;65;p14"/>
          <p:cNvSpPr txBox="1"/>
          <p:nvPr/>
        </p:nvSpPr>
        <p:spPr>
          <a:xfrm>
            <a:off x="78325" y="4072650"/>
            <a:ext cx="8803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Josefin Sans"/>
                <a:ea typeface="Josefin Sans"/>
                <a:cs typeface="Josefin Sans"/>
                <a:sym typeface="Josefin Sans"/>
              </a:rPr>
              <a:t>Economic growth</a:t>
            </a:r>
            <a:r>
              <a:rPr lang="en">
                <a:latin typeface="Josefin Sans"/>
                <a:ea typeface="Josefin Sans"/>
                <a:cs typeface="Josefin Sans"/>
                <a:sym typeface="Josefin Sans"/>
              </a:rPr>
              <a:t> is defined as the physical, measurable transition of a village's landscape rather than just a traditional income statistic. It is measured as a multidimensional spatial reality by combining early-stage capital investment (expanding road networks) and mature wealth accumulation (new concrete built-up areas and increased nightlight radiance)." </a:t>
            </a:r>
            <a:endParaRPr>
              <a:latin typeface="Josefin Sans"/>
              <a:ea typeface="Josefin Sans"/>
              <a:cs typeface="Josefin Sans"/>
              <a:sym typeface="Josefi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nvSpPr>
        <p:spPr>
          <a:xfrm>
            <a:off x="50825" y="41150"/>
            <a:ext cx="9040500" cy="580800"/>
          </a:xfrm>
          <a:prstGeom prst="rect">
            <a:avLst/>
          </a:prstGeom>
          <a:solidFill>
            <a:srgbClr val="B7B7B7"/>
          </a:solidFill>
          <a:ln>
            <a:noFill/>
          </a:ln>
          <a:effectLst>
            <a:outerShdw blurRad="57150" rotWithShape="0" algn="bl" dir="5400000" dist="19050">
              <a:srgbClr val="000000">
                <a:alpha val="41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Josefin Sans"/>
                <a:ea typeface="Josefin Sans"/>
                <a:cs typeface="Josefin Sans"/>
                <a:sym typeface="Josefin Sans"/>
              </a:rPr>
              <a:t>Geospatial Data Pipeline and Ranking Methodology</a:t>
            </a:r>
            <a:endParaRPr b="1" sz="2400">
              <a:latin typeface="Josefin Sans"/>
              <a:ea typeface="Josefin Sans"/>
              <a:cs typeface="Josefin Sans"/>
              <a:sym typeface="Josefin Sans"/>
            </a:endParaRPr>
          </a:p>
        </p:txBody>
      </p:sp>
      <p:graphicFrame>
        <p:nvGraphicFramePr>
          <p:cNvPr id="71" name="Google Shape;71;p15"/>
          <p:cNvGraphicFramePr/>
          <p:nvPr/>
        </p:nvGraphicFramePr>
        <p:xfrm>
          <a:off x="6181700" y="771525"/>
          <a:ext cx="3000000" cy="3000000"/>
        </p:xfrm>
        <a:graphic>
          <a:graphicData uri="http://schemas.openxmlformats.org/drawingml/2006/table">
            <a:tbl>
              <a:tblPr>
                <a:noFill/>
                <a:tableStyleId>{CDA8D01C-19A1-4183-8F4B-27D5D766EF26}</a:tableStyleId>
              </a:tblPr>
              <a:tblGrid>
                <a:gridCol w="1424000"/>
                <a:gridCol w="1424000"/>
              </a:tblGrid>
              <a:tr h="381000">
                <a:tc>
                  <a:txBody>
                    <a:bodyPr/>
                    <a:lstStyle/>
                    <a:p>
                      <a:pPr indent="0" lvl="0" marL="0" rtl="0" algn="l">
                        <a:spcBef>
                          <a:spcPts val="0"/>
                        </a:spcBef>
                        <a:spcAft>
                          <a:spcPts val="0"/>
                        </a:spcAft>
                        <a:buNone/>
                      </a:pPr>
                      <a:r>
                        <a:rPr b="1" lang="en">
                          <a:latin typeface="Josefin Sans"/>
                          <a:ea typeface="Josefin Sans"/>
                          <a:cs typeface="Josefin Sans"/>
                          <a:sym typeface="Josefin Sans"/>
                        </a:rPr>
                        <a:t>Datasets used</a:t>
                      </a:r>
                      <a:endParaRPr b="1">
                        <a:latin typeface="Josefin Sans"/>
                        <a:ea typeface="Josefin Sans"/>
                        <a:cs typeface="Josefin Sans"/>
                        <a:sym typeface="Josefin Sans"/>
                      </a:endParaRPr>
                    </a:p>
                  </a:txBody>
                  <a:tcPr marT="91425" marB="91425" marR="91425" marL="91425">
                    <a:solidFill>
                      <a:srgbClr val="CCCCCC"/>
                    </a:solidFill>
                  </a:tcPr>
                </a:tc>
                <a:tc>
                  <a:txBody>
                    <a:bodyPr/>
                    <a:lstStyle/>
                    <a:p>
                      <a:pPr indent="0" lvl="0" marL="0" rtl="0" algn="l">
                        <a:spcBef>
                          <a:spcPts val="0"/>
                        </a:spcBef>
                        <a:spcAft>
                          <a:spcPts val="0"/>
                        </a:spcAft>
                        <a:buNone/>
                      </a:pPr>
                      <a:r>
                        <a:rPr b="1" lang="en">
                          <a:latin typeface="Josefin Sans"/>
                          <a:ea typeface="Josefin Sans"/>
                          <a:cs typeface="Josefin Sans"/>
                          <a:sym typeface="Josefin Sans"/>
                        </a:rPr>
                        <a:t>Source</a:t>
                      </a:r>
                      <a:endParaRPr b="1">
                        <a:latin typeface="Josefin Sans"/>
                        <a:ea typeface="Josefin Sans"/>
                        <a:cs typeface="Josefin Sans"/>
                        <a:sym typeface="Josefin Sans"/>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en" sz="1200">
                          <a:latin typeface="Josefin Sans"/>
                          <a:ea typeface="Josefin Sans"/>
                          <a:cs typeface="Josefin Sans"/>
                          <a:sym typeface="Josefin Sans"/>
                        </a:rPr>
                        <a:t>Village</a:t>
                      </a:r>
                      <a:r>
                        <a:rPr lang="en" sz="1200">
                          <a:latin typeface="Josefin Sans"/>
                          <a:ea typeface="Josefin Sans"/>
                          <a:cs typeface="Josefin Sans"/>
                          <a:sym typeface="Josefin Sans"/>
                        </a:rPr>
                        <a:t> shapefile</a:t>
                      </a:r>
                      <a:endParaRPr sz="1200">
                        <a:latin typeface="Josefin Sans"/>
                        <a:ea typeface="Josefin Sans"/>
                        <a:cs typeface="Josefin Sans"/>
                        <a:sym typeface="Josefin Sans"/>
                      </a:endParaRPr>
                    </a:p>
                  </a:txBody>
                  <a:tcPr marT="91425" marB="91425" marR="91425" marL="91425">
                    <a:solidFill>
                      <a:srgbClr val="EFEFEF"/>
                    </a:solidFill>
                  </a:tcPr>
                </a:tc>
                <a:tc>
                  <a:txBody>
                    <a:bodyPr/>
                    <a:lstStyle/>
                    <a:p>
                      <a:pPr indent="0" lvl="0" marL="0" rtl="0" algn="l">
                        <a:spcBef>
                          <a:spcPts val="0"/>
                        </a:spcBef>
                        <a:spcAft>
                          <a:spcPts val="0"/>
                        </a:spcAft>
                        <a:buNone/>
                      </a:pPr>
                      <a:r>
                        <a:rPr lang="en" sz="1200">
                          <a:latin typeface="Josefin Sans"/>
                          <a:ea typeface="Josefin Sans"/>
                          <a:cs typeface="Josefin Sans"/>
                          <a:sym typeface="Josefin Sans"/>
                        </a:rPr>
                        <a:t>Survey of India</a:t>
                      </a:r>
                      <a:endParaRPr sz="1200">
                        <a:latin typeface="Josefin Sans"/>
                        <a:ea typeface="Josefin Sans"/>
                        <a:cs typeface="Josefin Sans"/>
                        <a:sym typeface="Josefin Sans"/>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sz="1200">
                          <a:latin typeface="Josefin Sans"/>
                          <a:ea typeface="Josefin Sans"/>
                          <a:cs typeface="Josefin Sans"/>
                          <a:sym typeface="Josefin Sans"/>
                        </a:rPr>
                        <a:t>LULC</a:t>
                      </a:r>
                      <a:endParaRPr sz="1200">
                        <a:latin typeface="Josefin Sans"/>
                        <a:ea typeface="Josefin Sans"/>
                        <a:cs typeface="Josefin Sans"/>
                        <a:sym typeface="Josefin Sans"/>
                      </a:endParaRPr>
                    </a:p>
                  </a:txBody>
                  <a:tcPr marT="91425" marB="91425" marR="91425" marL="91425">
                    <a:solidFill>
                      <a:srgbClr val="EFEFEF"/>
                    </a:solidFill>
                  </a:tcPr>
                </a:tc>
                <a:tc>
                  <a:txBody>
                    <a:bodyPr/>
                    <a:lstStyle/>
                    <a:p>
                      <a:pPr indent="0" lvl="0" marL="0" rtl="0" algn="l">
                        <a:spcBef>
                          <a:spcPts val="0"/>
                        </a:spcBef>
                        <a:spcAft>
                          <a:spcPts val="0"/>
                        </a:spcAft>
                        <a:buNone/>
                      </a:pPr>
                      <a:r>
                        <a:rPr lang="en" sz="1200">
                          <a:latin typeface="Josefin Sans"/>
                          <a:ea typeface="Josefin Sans"/>
                          <a:cs typeface="Josefin Sans"/>
                          <a:sym typeface="Josefin Sans"/>
                        </a:rPr>
                        <a:t>Dynamic World (10m)</a:t>
                      </a:r>
                      <a:endParaRPr sz="1200">
                        <a:latin typeface="Josefin Sans"/>
                        <a:ea typeface="Josefin Sans"/>
                        <a:cs typeface="Josefin Sans"/>
                        <a:sym typeface="Josefin Sans"/>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sz="1200">
                          <a:latin typeface="Josefin Sans"/>
                          <a:ea typeface="Josefin Sans"/>
                          <a:cs typeface="Josefin Sans"/>
                          <a:sym typeface="Josefin Sans"/>
                        </a:rPr>
                        <a:t>Nightlight data</a:t>
                      </a:r>
                      <a:endParaRPr sz="1200">
                        <a:latin typeface="Josefin Sans"/>
                        <a:ea typeface="Josefin Sans"/>
                        <a:cs typeface="Josefin Sans"/>
                        <a:sym typeface="Josefin Sans"/>
                      </a:endParaRPr>
                    </a:p>
                  </a:txBody>
                  <a:tcPr marT="91425" marB="91425" marR="91425" marL="91425">
                    <a:solidFill>
                      <a:srgbClr val="EFEFEF"/>
                    </a:solidFill>
                  </a:tcPr>
                </a:tc>
                <a:tc>
                  <a:txBody>
                    <a:bodyPr/>
                    <a:lstStyle/>
                    <a:p>
                      <a:pPr indent="0" lvl="0" marL="0" rtl="0" algn="l">
                        <a:spcBef>
                          <a:spcPts val="0"/>
                        </a:spcBef>
                        <a:spcAft>
                          <a:spcPts val="0"/>
                        </a:spcAft>
                        <a:buNone/>
                      </a:pPr>
                      <a:r>
                        <a:rPr lang="en" sz="1200">
                          <a:latin typeface="Josefin Sans"/>
                          <a:ea typeface="Josefin Sans"/>
                          <a:cs typeface="Josefin Sans"/>
                          <a:sym typeface="Josefin Sans"/>
                        </a:rPr>
                        <a:t>VIIRS (500m)</a:t>
                      </a:r>
                      <a:endParaRPr sz="1200">
                        <a:latin typeface="Josefin Sans"/>
                        <a:ea typeface="Josefin Sans"/>
                        <a:cs typeface="Josefin Sans"/>
                        <a:sym typeface="Josefin Sans"/>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sz="1200">
                          <a:latin typeface="Josefin Sans"/>
                          <a:ea typeface="Josefin Sans"/>
                          <a:cs typeface="Josefin Sans"/>
                          <a:sym typeface="Josefin Sans"/>
                        </a:rPr>
                        <a:t>Road network</a:t>
                      </a:r>
                      <a:endParaRPr sz="1200">
                        <a:latin typeface="Josefin Sans"/>
                        <a:ea typeface="Josefin Sans"/>
                        <a:cs typeface="Josefin Sans"/>
                        <a:sym typeface="Josefin Sans"/>
                      </a:endParaRPr>
                    </a:p>
                  </a:txBody>
                  <a:tcPr marT="91425" marB="91425" marR="91425" marL="91425">
                    <a:solidFill>
                      <a:srgbClr val="EFEFEF"/>
                    </a:solidFill>
                  </a:tcPr>
                </a:tc>
                <a:tc>
                  <a:txBody>
                    <a:bodyPr/>
                    <a:lstStyle/>
                    <a:p>
                      <a:pPr indent="0" lvl="0" marL="0" rtl="0" algn="l">
                        <a:spcBef>
                          <a:spcPts val="0"/>
                        </a:spcBef>
                        <a:spcAft>
                          <a:spcPts val="0"/>
                        </a:spcAft>
                        <a:buNone/>
                      </a:pPr>
                      <a:r>
                        <a:rPr lang="en" sz="1200">
                          <a:latin typeface="Josefin Sans"/>
                          <a:ea typeface="Josefin Sans"/>
                          <a:cs typeface="Josefin Sans"/>
                          <a:sym typeface="Josefin Sans"/>
                        </a:rPr>
                        <a:t>OSM</a:t>
                      </a:r>
                      <a:endParaRPr sz="1200">
                        <a:latin typeface="Josefin Sans"/>
                        <a:ea typeface="Josefin Sans"/>
                        <a:cs typeface="Josefin Sans"/>
                        <a:sym typeface="Josefin Sans"/>
                      </a:endParaRPr>
                    </a:p>
                  </a:txBody>
                  <a:tcPr marT="91425" marB="91425" marR="91425" marL="91425">
                    <a:solidFill>
                      <a:srgbClr val="EFEFEF"/>
                    </a:solidFill>
                  </a:tcPr>
                </a:tc>
              </a:tr>
            </a:tbl>
          </a:graphicData>
        </a:graphic>
      </p:graphicFrame>
      <p:sp>
        <p:nvSpPr>
          <p:cNvPr id="72" name="Google Shape;72;p15"/>
          <p:cNvSpPr txBox="1"/>
          <p:nvPr/>
        </p:nvSpPr>
        <p:spPr>
          <a:xfrm>
            <a:off x="105875" y="4126575"/>
            <a:ext cx="4146600" cy="9234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Josefin Sans"/>
                <a:ea typeface="Josefin Sans"/>
                <a:cs typeface="Josefin Sans"/>
                <a:sym typeface="Josefin Sans"/>
              </a:rPr>
              <a:t>Note 1:</a:t>
            </a:r>
            <a:r>
              <a:rPr lang="en" sz="1200">
                <a:solidFill>
                  <a:schemeClr val="dk1"/>
                </a:solidFill>
                <a:latin typeface="Josefin Sans"/>
                <a:ea typeface="Josefin Sans"/>
                <a:cs typeface="Josefin Sans"/>
                <a:sym typeface="Josefin Sans"/>
              </a:rPr>
              <a:t> Village-level LULC data were extracted for the classes Built-up, Cropland, and Wasteland. These classes were selected based on their influence on the economic development of the village. </a:t>
            </a:r>
            <a:endParaRPr sz="1200">
              <a:solidFill>
                <a:schemeClr val="dk1"/>
              </a:solidFill>
              <a:latin typeface="Josefin Sans"/>
              <a:ea typeface="Josefin Sans"/>
              <a:cs typeface="Josefin Sans"/>
              <a:sym typeface="Josefin Sans"/>
            </a:endParaRPr>
          </a:p>
        </p:txBody>
      </p:sp>
      <p:sp>
        <p:nvSpPr>
          <p:cNvPr id="73" name="Google Shape;73;p15"/>
          <p:cNvSpPr txBox="1"/>
          <p:nvPr/>
        </p:nvSpPr>
        <p:spPr>
          <a:xfrm>
            <a:off x="4458800" y="4126575"/>
            <a:ext cx="4146600" cy="7389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Josefin Sans"/>
                <a:ea typeface="Josefin Sans"/>
                <a:cs typeface="Josefin Sans"/>
                <a:sym typeface="Josefin Sans"/>
              </a:rPr>
              <a:t>Note 2:</a:t>
            </a:r>
            <a:r>
              <a:rPr lang="en" sz="1200">
                <a:solidFill>
                  <a:schemeClr val="dk1"/>
                </a:solidFill>
                <a:latin typeface="Josefin Sans"/>
                <a:ea typeface="Josefin Sans"/>
                <a:cs typeface="Josefin Sans"/>
                <a:sym typeface="Josefin Sans"/>
              </a:rPr>
              <a:t> Road length (in km) extracted at the village level was converted into road density (km/sq. km) to minimize size bias between larger and smaller villages. </a:t>
            </a:r>
            <a:endParaRPr sz="1200">
              <a:solidFill>
                <a:schemeClr val="dk1"/>
              </a:solidFill>
              <a:latin typeface="Josefin Sans"/>
              <a:ea typeface="Josefin Sans"/>
              <a:cs typeface="Josefin Sans"/>
              <a:sym typeface="Josefin Sans"/>
            </a:endParaRPr>
          </a:p>
        </p:txBody>
      </p:sp>
      <p:sp>
        <p:nvSpPr>
          <p:cNvPr id="74" name="Google Shape;74;p15"/>
          <p:cNvSpPr txBox="1"/>
          <p:nvPr/>
        </p:nvSpPr>
        <p:spPr>
          <a:xfrm>
            <a:off x="6181700" y="3000375"/>
            <a:ext cx="2847900" cy="5541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Josefin Sans"/>
                <a:ea typeface="Josefin Sans"/>
                <a:cs typeface="Josefin Sans"/>
                <a:sym typeface="Josefin Sans"/>
              </a:rPr>
              <a:t>Datasets were extracted for the year 2021 and 2025</a:t>
            </a:r>
            <a:endParaRPr sz="1200">
              <a:solidFill>
                <a:schemeClr val="dk1"/>
              </a:solidFill>
              <a:latin typeface="Josefin Sans"/>
              <a:ea typeface="Josefin Sans"/>
              <a:cs typeface="Josefin Sans"/>
              <a:sym typeface="Josefin Sans"/>
            </a:endParaRPr>
          </a:p>
        </p:txBody>
      </p:sp>
      <p:pic>
        <p:nvPicPr>
          <p:cNvPr id="75" name="Google Shape;75;p15"/>
          <p:cNvPicPr preferRelativeResize="0"/>
          <p:nvPr/>
        </p:nvPicPr>
        <p:blipFill>
          <a:blip r:embed="rId3">
            <a:alphaModFix/>
          </a:blip>
          <a:stretch>
            <a:fillRect/>
          </a:stretch>
        </p:blipFill>
        <p:spPr>
          <a:xfrm>
            <a:off x="152400" y="707675"/>
            <a:ext cx="5847841" cy="3056949"/>
          </a:xfrm>
          <a:prstGeom prst="rect">
            <a:avLst/>
          </a:prstGeom>
          <a:noFill/>
          <a:ln>
            <a:noFill/>
          </a:ln>
        </p:spPr>
      </p:pic>
      <p:sp>
        <p:nvSpPr>
          <p:cNvPr id="76" name="Google Shape;76;p15"/>
          <p:cNvSpPr txBox="1"/>
          <p:nvPr/>
        </p:nvSpPr>
        <p:spPr>
          <a:xfrm>
            <a:off x="173475" y="3714458"/>
            <a:ext cx="4146600" cy="2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Montserrat"/>
                <a:ea typeface="Montserrat"/>
                <a:cs typeface="Montserrat"/>
                <a:sym typeface="Montserrat"/>
              </a:rPr>
              <a:t>Fig 2: Methodology</a:t>
            </a:r>
            <a:endParaRPr sz="1300">
              <a:solidFill>
                <a:schemeClr val="dk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nvSpPr>
        <p:spPr>
          <a:xfrm>
            <a:off x="50825" y="41150"/>
            <a:ext cx="9040500" cy="580800"/>
          </a:xfrm>
          <a:prstGeom prst="rect">
            <a:avLst/>
          </a:prstGeom>
          <a:solidFill>
            <a:srgbClr val="B7B7B7"/>
          </a:solidFill>
          <a:ln>
            <a:noFill/>
          </a:ln>
          <a:effectLst>
            <a:outerShdw blurRad="57150" rotWithShape="0" algn="bl" dir="5400000" dist="19050">
              <a:srgbClr val="000000">
                <a:alpha val="41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Josefin Sans"/>
                <a:ea typeface="Josefin Sans"/>
                <a:cs typeface="Josefin Sans"/>
                <a:sym typeface="Josefin Sans"/>
              </a:rPr>
              <a:t>Geospatial Data Pipeline and Ranking Methodology</a:t>
            </a:r>
            <a:endParaRPr b="1" sz="2400">
              <a:latin typeface="Josefin Sans"/>
              <a:ea typeface="Josefin Sans"/>
              <a:cs typeface="Josefin Sans"/>
              <a:sym typeface="Josefin Sans"/>
            </a:endParaRPr>
          </a:p>
        </p:txBody>
      </p:sp>
      <p:graphicFrame>
        <p:nvGraphicFramePr>
          <p:cNvPr id="82" name="Google Shape;82;p16"/>
          <p:cNvGraphicFramePr/>
          <p:nvPr/>
        </p:nvGraphicFramePr>
        <p:xfrm>
          <a:off x="95238" y="2466975"/>
          <a:ext cx="3000000" cy="3000000"/>
        </p:xfrm>
        <a:graphic>
          <a:graphicData uri="http://schemas.openxmlformats.org/drawingml/2006/table">
            <a:tbl>
              <a:tblPr>
                <a:noFill/>
                <a:tableStyleId>{CDA8D01C-19A1-4183-8F4B-27D5D766EF26}</a:tableStyleId>
              </a:tblPr>
              <a:tblGrid>
                <a:gridCol w="8953500"/>
              </a:tblGrid>
              <a:tr h="307575">
                <a:tc>
                  <a:txBody>
                    <a:bodyPr/>
                    <a:lstStyle/>
                    <a:p>
                      <a:pPr indent="0" lvl="0" marL="0" rtl="0" algn="l">
                        <a:spcBef>
                          <a:spcPts val="0"/>
                        </a:spcBef>
                        <a:spcAft>
                          <a:spcPts val="0"/>
                        </a:spcAft>
                        <a:buNone/>
                      </a:pPr>
                      <a:r>
                        <a:rPr b="1" lang="en" sz="1200">
                          <a:solidFill>
                            <a:schemeClr val="dk1"/>
                          </a:solidFill>
                          <a:latin typeface="Josefin Sans"/>
                          <a:ea typeface="Josefin Sans"/>
                          <a:cs typeface="Josefin Sans"/>
                          <a:sym typeface="Josefin Sans"/>
                        </a:rPr>
                        <a:t>a) </a:t>
                      </a:r>
                      <a:r>
                        <a:rPr b="1" lang="en" sz="1200">
                          <a:solidFill>
                            <a:schemeClr val="dk1"/>
                          </a:solidFill>
                          <a:latin typeface="Josefin Sans"/>
                          <a:ea typeface="Josefin Sans"/>
                          <a:cs typeface="Josefin Sans"/>
                          <a:sym typeface="Josefin Sans"/>
                        </a:rPr>
                        <a:t>Normalization</a:t>
                      </a:r>
                      <a:endParaRPr/>
                    </a:p>
                  </a:txBody>
                  <a:tcPr marT="91425" marB="91425" marR="91425" marL="91425">
                    <a:solidFill>
                      <a:srgbClr val="CCCCCC"/>
                    </a:solidFill>
                  </a:tcPr>
                </a:tc>
              </a:tr>
              <a:tr h="401775">
                <a:tc>
                  <a:txBody>
                    <a:bodyPr/>
                    <a:lstStyle/>
                    <a:p>
                      <a:pPr indent="0" lvl="0" marL="0" rtl="0" algn="l">
                        <a:lnSpc>
                          <a:spcPct val="115000"/>
                        </a:lnSpc>
                        <a:spcBef>
                          <a:spcPts val="1200"/>
                        </a:spcBef>
                        <a:spcAft>
                          <a:spcPts val="1200"/>
                        </a:spcAft>
                        <a:buNone/>
                      </a:pPr>
                      <a:r>
                        <a:rPr lang="en" sz="1100">
                          <a:solidFill>
                            <a:schemeClr val="dk1"/>
                          </a:solidFill>
                          <a:latin typeface="Josefin Sans"/>
                          <a:ea typeface="Josefin Sans"/>
                          <a:cs typeface="Josefin Sans"/>
                          <a:sym typeface="Josefin Sans"/>
                        </a:rPr>
                        <a:t>To standardize the dataset for ranking, the absolute change (the difference between 2025 and 2021) was calculated for all parameters. The indicators were then classified by their economic impact:</a:t>
                      </a:r>
                      <a:endParaRPr>
                        <a:latin typeface="Josefin Sans"/>
                        <a:ea typeface="Josefin Sans"/>
                        <a:cs typeface="Josefin Sans"/>
                        <a:sym typeface="Josefin Sans"/>
                      </a:endParaRPr>
                    </a:p>
                  </a:txBody>
                  <a:tcPr marT="91425" marB="91425" marR="91425" marL="91425"/>
                </a:tc>
              </a:tr>
              <a:tr h="401775">
                <a:tc>
                  <a:txBody>
                    <a:bodyPr/>
                    <a:lstStyle/>
                    <a:p>
                      <a:pPr indent="0" lvl="0" marL="0" rtl="0" algn="l">
                        <a:lnSpc>
                          <a:spcPct val="115000"/>
                        </a:lnSpc>
                        <a:spcBef>
                          <a:spcPts val="1200"/>
                        </a:spcBef>
                        <a:spcAft>
                          <a:spcPts val="1200"/>
                        </a:spcAft>
                        <a:buNone/>
                      </a:pPr>
                      <a:r>
                        <a:rPr b="1" lang="en" sz="1100">
                          <a:solidFill>
                            <a:schemeClr val="dk1"/>
                          </a:solidFill>
                          <a:latin typeface="Montserrat"/>
                          <a:ea typeface="Montserrat"/>
                          <a:cs typeface="Montserrat"/>
                          <a:sym typeface="Montserrat"/>
                        </a:rPr>
                        <a:t>Positive Indicators:</a:t>
                      </a:r>
                      <a:r>
                        <a:rPr lang="en" sz="1100">
                          <a:solidFill>
                            <a:schemeClr val="dk1"/>
                          </a:solidFill>
                          <a:latin typeface="Montserrat"/>
                          <a:ea typeface="Montserrat"/>
                          <a:cs typeface="Montserrat"/>
                          <a:sym typeface="Montserrat"/>
                        </a:rPr>
                        <a:t> </a:t>
                      </a:r>
                      <a:r>
                        <a:rPr lang="en" sz="1100">
                          <a:solidFill>
                            <a:schemeClr val="dk1"/>
                          </a:solidFill>
                          <a:latin typeface="Josefin Sans"/>
                          <a:ea typeface="Josefin Sans"/>
                          <a:cs typeface="Josefin Sans"/>
                          <a:sym typeface="Josefin Sans"/>
                        </a:rPr>
                        <a:t>Built-up area, crop land, median nightlights, and road density were classified as positive drivers. An increase in these metrics signifies improving economic conditions and infrastructural expansion.</a:t>
                      </a:r>
                      <a:endParaRPr>
                        <a:latin typeface="Josefin Sans"/>
                        <a:ea typeface="Josefin Sans"/>
                        <a:cs typeface="Josefin Sans"/>
                        <a:sym typeface="Josefin Sans"/>
                      </a:endParaRPr>
                    </a:p>
                  </a:txBody>
                  <a:tcPr marT="91425" marB="91425" marR="91425" marL="91425"/>
                </a:tc>
              </a:tr>
              <a:tr h="268175">
                <a:tc>
                  <a:txBody>
                    <a:bodyPr/>
                    <a:lstStyle/>
                    <a:p>
                      <a:pPr indent="0" lvl="0" marL="0" rtl="0" algn="l">
                        <a:lnSpc>
                          <a:spcPct val="115000"/>
                        </a:lnSpc>
                        <a:spcBef>
                          <a:spcPts val="1200"/>
                        </a:spcBef>
                        <a:spcAft>
                          <a:spcPts val="1200"/>
                        </a:spcAft>
                        <a:buNone/>
                      </a:pPr>
                      <a:r>
                        <a:rPr b="1" lang="en" sz="1100">
                          <a:solidFill>
                            <a:schemeClr val="dk1"/>
                          </a:solidFill>
                          <a:latin typeface="Montserrat"/>
                          <a:ea typeface="Montserrat"/>
                          <a:cs typeface="Montserrat"/>
                          <a:sym typeface="Montserrat"/>
                        </a:rPr>
                        <a:t>Negative Indicators:</a:t>
                      </a:r>
                      <a:r>
                        <a:rPr lang="en" sz="1100">
                          <a:solidFill>
                            <a:schemeClr val="dk1"/>
                          </a:solidFill>
                          <a:latin typeface="Josefin Sans"/>
                          <a:ea typeface="Josefin Sans"/>
                          <a:cs typeface="Josefin Sans"/>
                          <a:sym typeface="Josefin Sans"/>
                        </a:rPr>
                        <a:t> Wasteland expansion was classified as a negative indicator, as an increase suggests agrarian decline or a reduction in productive economic activity.</a:t>
                      </a:r>
                      <a:endParaRPr>
                        <a:latin typeface="Josefin Sans"/>
                        <a:ea typeface="Josefin Sans"/>
                        <a:cs typeface="Josefin Sans"/>
                        <a:sym typeface="Josefin Sans"/>
                      </a:endParaRPr>
                    </a:p>
                  </a:txBody>
                  <a:tcPr marT="91425" marB="91425" marR="91425" marL="91425"/>
                </a:tc>
              </a:tr>
              <a:tr h="401775">
                <a:tc>
                  <a:txBody>
                    <a:bodyPr/>
                    <a:lstStyle/>
                    <a:p>
                      <a:pPr indent="0" lvl="0" marL="0" rtl="0" algn="l">
                        <a:lnSpc>
                          <a:spcPct val="115000"/>
                        </a:lnSpc>
                        <a:spcBef>
                          <a:spcPts val="1200"/>
                        </a:spcBef>
                        <a:spcAft>
                          <a:spcPts val="1200"/>
                        </a:spcAft>
                        <a:buNone/>
                      </a:pPr>
                      <a:r>
                        <a:rPr lang="en" sz="1100">
                          <a:solidFill>
                            <a:schemeClr val="dk1"/>
                          </a:solidFill>
                          <a:latin typeface="Josefin Sans"/>
                          <a:ea typeface="Josefin Sans"/>
                          <a:cs typeface="Josefin Sans"/>
                          <a:sym typeface="Josefin Sans"/>
                        </a:rPr>
                        <a:t>To ensure all variables carried equal weight regardless of their raw units, </a:t>
                      </a:r>
                      <a:r>
                        <a:rPr b="1" lang="en" sz="1100">
                          <a:solidFill>
                            <a:schemeClr val="dk1"/>
                          </a:solidFill>
                          <a:latin typeface="Josefin Sans"/>
                          <a:ea typeface="Josefin Sans"/>
                          <a:cs typeface="Josefin Sans"/>
                          <a:sym typeface="Josefin Sans"/>
                        </a:rPr>
                        <a:t>Min-Max Normalization</a:t>
                      </a:r>
                      <a:r>
                        <a:rPr lang="en" sz="1100">
                          <a:solidFill>
                            <a:schemeClr val="dk1"/>
                          </a:solidFill>
                          <a:latin typeface="Josefin Sans"/>
                          <a:ea typeface="Josefin Sans"/>
                          <a:cs typeface="Josefin Sans"/>
                          <a:sym typeface="Josefin Sans"/>
                        </a:rPr>
                        <a:t> was applied. All absolute values were scaled to a strict </a:t>
                      </a:r>
                      <a:r>
                        <a:rPr b="1" lang="en" sz="1100">
                          <a:solidFill>
                            <a:schemeClr val="dk1"/>
                          </a:solidFill>
                          <a:latin typeface="Josefin Sans"/>
                          <a:ea typeface="Josefin Sans"/>
                          <a:cs typeface="Josefin Sans"/>
                          <a:sym typeface="Josefin Sans"/>
                        </a:rPr>
                        <a:t>0.0 to 1.0 index. </a:t>
                      </a:r>
                      <a:endParaRPr b="1" sz="1100">
                        <a:solidFill>
                          <a:schemeClr val="dk1"/>
                        </a:solidFill>
                        <a:latin typeface="Josefin Sans"/>
                        <a:ea typeface="Josefin Sans"/>
                        <a:cs typeface="Josefin Sans"/>
                        <a:sym typeface="Josefin Sans"/>
                      </a:endParaRPr>
                    </a:p>
                  </a:txBody>
                  <a:tcPr marT="91425" marB="91425" marR="91425" marL="91425"/>
                </a:tc>
              </a:tr>
            </a:tbl>
          </a:graphicData>
        </a:graphic>
      </p:graphicFrame>
      <p:graphicFrame>
        <p:nvGraphicFramePr>
          <p:cNvPr id="83" name="Google Shape;83;p16"/>
          <p:cNvGraphicFramePr/>
          <p:nvPr/>
        </p:nvGraphicFramePr>
        <p:xfrm>
          <a:off x="50825" y="752475"/>
          <a:ext cx="3000000" cy="3000000"/>
        </p:xfrm>
        <a:graphic>
          <a:graphicData uri="http://schemas.openxmlformats.org/drawingml/2006/table">
            <a:tbl>
              <a:tblPr>
                <a:noFill/>
                <a:tableStyleId>{CDA8D01C-19A1-4183-8F4B-27D5D766EF26}</a:tableStyleId>
              </a:tblPr>
              <a:tblGrid>
                <a:gridCol w="8997925"/>
              </a:tblGrid>
              <a:tr h="552450">
                <a:tc>
                  <a:txBody>
                    <a:bodyPr/>
                    <a:lstStyle/>
                    <a:p>
                      <a:pPr indent="0" lvl="0" marL="0" rtl="0" algn="l">
                        <a:spcBef>
                          <a:spcPts val="0"/>
                        </a:spcBef>
                        <a:spcAft>
                          <a:spcPts val="0"/>
                        </a:spcAft>
                        <a:buNone/>
                      </a:pPr>
                      <a:r>
                        <a:rPr b="1" lang="en" sz="1200">
                          <a:solidFill>
                            <a:schemeClr val="dk1"/>
                          </a:solidFill>
                          <a:latin typeface="Josefin Sans"/>
                          <a:ea typeface="Josefin Sans"/>
                          <a:cs typeface="Josefin Sans"/>
                          <a:sym typeface="Josefin Sans"/>
                        </a:rPr>
                        <a:t>Ranking methodology: The TOPSIS Approach-</a:t>
                      </a:r>
                      <a:r>
                        <a:rPr lang="en">
                          <a:solidFill>
                            <a:schemeClr val="dk1"/>
                          </a:solidFill>
                          <a:latin typeface="Josefin Sans"/>
                          <a:ea typeface="Josefin Sans"/>
                          <a:cs typeface="Josefin Sans"/>
                          <a:sym typeface="Josefin Sans"/>
                        </a:rPr>
                        <a:t> </a:t>
                      </a:r>
                      <a:r>
                        <a:rPr lang="en" sz="1300">
                          <a:solidFill>
                            <a:schemeClr val="dk1"/>
                          </a:solidFill>
                          <a:latin typeface="Josefin Sans"/>
                          <a:ea typeface="Josefin Sans"/>
                          <a:cs typeface="Josefin Sans"/>
                          <a:sym typeface="Josefin Sans"/>
                        </a:rPr>
                        <a:t>A Multi-Criteria Decision Making (MCDM) algorithm that ranks alternatives based on their geometric distance to theoretical extremes.</a:t>
                      </a:r>
                      <a:r>
                        <a:rPr lang="en" sz="1200">
                          <a:solidFill>
                            <a:schemeClr val="dk1"/>
                          </a:solidFill>
                          <a:latin typeface="Josefin Sans"/>
                          <a:ea typeface="Josefin Sans"/>
                          <a:cs typeface="Josefin Sans"/>
                          <a:sym typeface="Josefin Sans"/>
                        </a:rPr>
                        <a:t> </a:t>
                      </a:r>
                      <a:r>
                        <a:rPr b="1" lang="en" sz="1200">
                          <a:solidFill>
                            <a:schemeClr val="dk1"/>
                          </a:solidFill>
                          <a:latin typeface="Josefin Sans"/>
                          <a:ea typeface="Josefin Sans"/>
                          <a:cs typeface="Josefin Sans"/>
                          <a:sym typeface="Josefin Sans"/>
                        </a:rPr>
                        <a:t> </a:t>
                      </a:r>
                      <a:endParaRPr/>
                    </a:p>
                  </a:txBody>
                  <a:tcPr marT="91425" marB="91425" marR="91425" marL="91425">
                    <a:solidFill>
                      <a:srgbClr val="CCCCCC"/>
                    </a:solidFill>
                  </a:tcPr>
                </a:tc>
              </a:tr>
            </a:tbl>
          </a:graphicData>
        </a:graphic>
      </p:graphicFrame>
      <p:sp>
        <p:nvSpPr>
          <p:cNvPr id="84" name="Google Shape;84;p16"/>
          <p:cNvSpPr txBox="1"/>
          <p:nvPr/>
        </p:nvSpPr>
        <p:spPr>
          <a:xfrm>
            <a:off x="50825" y="1438275"/>
            <a:ext cx="8997900" cy="923400"/>
          </a:xfrm>
          <a:prstGeom prst="rect">
            <a:avLst/>
          </a:prstGeom>
          <a:solidFill>
            <a:srgbClr val="D9D9D9"/>
          </a:solid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Josefin Sans"/>
              <a:buAutoNum type="arabicParenR"/>
            </a:pPr>
            <a:r>
              <a:rPr b="1" lang="en" sz="1200">
                <a:solidFill>
                  <a:schemeClr val="dk1"/>
                </a:solidFill>
                <a:latin typeface="Josefin Sans"/>
                <a:ea typeface="Josefin Sans"/>
                <a:cs typeface="Josefin Sans"/>
                <a:sym typeface="Josefin Sans"/>
              </a:rPr>
              <a:t>Data Integration:</a:t>
            </a:r>
            <a:r>
              <a:rPr lang="en" sz="1200">
                <a:solidFill>
                  <a:schemeClr val="dk1"/>
                </a:solidFill>
                <a:latin typeface="Josefin Sans"/>
                <a:ea typeface="Josefin Sans"/>
                <a:cs typeface="Josefin Sans"/>
                <a:sym typeface="Josefin Sans"/>
              </a:rPr>
              <a:t> Normalizes disparate datasets (area, radiance, density) onto a unified 0 to 1 scale. It applies expert weights to merge all variables into a single, 5-dimensional mathematical space.</a:t>
            </a:r>
            <a:endParaRPr sz="1200">
              <a:solidFill>
                <a:schemeClr val="dk1"/>
              </a:solidFill>
              <a:latin typeface="Josefin Sans"/>
              <a:ea typeface="Josefin Sans"/>
              <a:cs typeface="Josefin Sans"/>
              <a:sym typeface="Josefin Sans"/>
            </a:endParaRPr>
          </a:p>
          <a:p>
            <a:pPr indent="-304800" lvl="0" marL="457200" rtl="0" algn="l">
              <a:spcBef>
                <a:spcPts val="0"/>
              </a:spcBef>
              <a:spcAft>
                <a:spcPts val="0"/>
              </a:spcAft>
              <a:buClr>
                <a:schemeClr val="dk1"/>
              </a:buClr>
              <a:buSzPts val="1200"/>
              <a:buFont typeface="Josefin Sans"/>
              <a:buAutoNum type="alphaLcParenR"/>
            </a:pPr>
            <a:r>
              <a:rPr lang="en" sz="1200">
                <a:solidFill>
                  <a:schemeClr val="dk1"/>
                </a:solidFill>
                <a:latin typeface="Josefin Sans"/>
                <a:ea typeface="Josefin Sans"/>
                <a:cs typeface="Josefin Sans"/>
                <a:sym typeface="Josefin Sans"/>
              </a:rPr>
              <a:t>Normalization</a:t>
            </a:r>
            <a:endParaRPr sz="1200">
              <a:solidFill>
                <a:schemeClr val="dk1"/>
              </a:solidFill>
              <a:latin typeface="Josefin Sans"/>
              <a:ea typeface="Josefin Sans"/>
              <a:cs typeface="Josefin Sans"/>
              <a:sym typeface="Josefin Sans"/>
            </a:endParaRPr>
          </a:p>
          <a:p>
            <a:pPr indent="-304800" lvl="0" marL="457200" rtl="0" algn="l">
              <a:spcBef>
                <a:spcPts val="0"/>
              </a:spcBef>
              <a:spcAft>
                <a:spcPts val="0"/>
              </a:spcAft>
              <a:buClr>
                <a:schemeClr val="dk1"/>
              </a:buClr>
              <a:buSzPts val="1200"/>
              <a:buFont typeface="Josefin Sans"/>
              <a:buAutoNum type="alphaLcParenR"/>
            </a:pPr>
            <a:r>
              <a:rPr lang="en" sz="1200">
                <a:solidFill>
                  <a:schemeClr val="dk1"/>
                </a:solidFill>
                <a:latin typeface="Josefin Sans"/>
                <a:ea typeface="Josefin Sans"/>
                <a:cs typeface="Josefin Sans"/>
                <a:sym typeface="Josefin Sans"/>
              </a:rPr>
              <a:t>Weighting Strategy</a:t>
            </a:r>
            <a:endParaRPr sz="1500">
              <a:latin typeface="Josefin Sans"/>
              <a:ea typeface="Josefin Sans"/>
              <a:cs typeface="Josefin Sans"/>
              <a:sym typeface="Josefi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nvSpPr>
        <p:spPr>
          <a:xfrm>
            <a:off x="50825" y="3035475"/>
            <a:ext cx="8940900" cy="19764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Josefin Sans"/>
                <a:ea typeface="Josefin Sans"/>
                <a:cs typeface="Josefin Sans"/>
                <a:sym typeface="Josefin Sans"/>
              </a:rPr>
              <a:t>3)</a:t>
            </a:r>
            <a:r>
              <a:rPr lang="en" sz="1200">
                <a:solidFill>
                  <a:schemeClr val="dk1"/>
                </a:solidFill>
                <a:latin typeface="Josefin Sans"/>
                <a:ea typeface="Josefin Sans"/>
                <a:cs typeface="Josefin Sans"/>
                <a:sym typeface="Josefin Sans"/>
              </a:rPr>
              <a:t> </a:t>
            </a:r>
            <a:r>
              <a:rPr b="1" lang="en" sz="1200">
                <a:solidFill>
                  <a:schemeClr val="dk1"/>
                </a:solidFill>
                <a:latin typeface="Josefin Sans"/>
                <a:ea typeface="Josefin Sans"/>
                <a:cs typeface="Josefin Sans"/>
                <a:sym typeface="Josefin Sans"/>
              </a:rPr>
              <a:t>The Ranking Strategy:</a:t>
            </a:r>
            <a:r>
              <a:rPr lang="en" sz="1200">
                <a:solidFill>
                  <a:schemeClr val="dk1"/>
                </a:solidFill>
                <a:latin typeface="Josefin Sans"/>
                <a:ea typeface="Josefin Sans"/>
                <a:cs typeface="Josefin Sans"/>
                <a:sym typeface="Josefin Sans"/>
              </a:rPr>
              <a:t> Identifies the Positive Ideal (maximum growth across all indicators) and the Negative Ideal (total stagnation/decline).Calculates the Euclidean distance from each village to both extremes.</a:t>
            </a:r>
            <a:endParaRPr sz="1200">
              <a:solidFill>
                <a:schemeClr val="dk1"/>
              </a:solidFill>
              <a:latin typeface="Josefin Sans"/>
              <a:ea typeface="Josefin Sans"/>
              <a:cs typeface="Josefin Sans"/>
              <a:sym typeface="Josefin Sans"/>
            </a:endParaRPr>
          </a:p>
          <a:p>
            <a:pPr indent="0" lvl="0" marL="0" rtl="0" algn="l">
              <a:spcBef>
                <a:spcPts val="0"/>
              </a:spcBef>
              <a:spcAft>
                <a:spcPts val="0"/>
              </a:spcAft>
              <a:buNone/>
            </a:pPr>
            <a:r>
              <a:rPr b="1" lang="en" sz="900">
                <a:solidFill>
                  <a:schemeClr val="dk1"/>
                </a:solidFill>
                <a:latin typeface="Josefin Sans"/>
                <a:ea typeface="Josefin Sans"/>
                <a:cs typeface="Josefin Sans"/>
                <a:sym typeface="Josefin Sans"/>
              </a:rPr>
              <a:t>               </a:t>
            </a:r>
            <a:endParaRPr b="1" sz="900">
              <a:solidFill>
                <a:schemeClr val="dk1"/>
              </a:solidFill>
              <a:latin typeface="Josefin Sans"/>
              <a:ea typeface="Josefin Sans"/>
              <a:cs typeface="Josefin Sans"/>
              <a:sym typeface="Josefin Sans"/>
            </a:endParaRPr>
          </a:p>
          <a:p>
            <a:pPr indent="0" lvl="0" marL="0" rtl="0" algn="l">
              <a:spcBef>
                <a:spcPts val="0"/>
              </a:spcBef>
              <a:spcAft>
                <a:spcPts val="0"/>
              </a:spcAft>
              <a:buNone/>
            </a:pPr>
            <a:r>
              <a:rPr b="1" lang="en" sz="900">
                <a:solidFill>
                  <a:schemeClr val="dk1"/>
                </a:solidFill>
                <a:latin typeface="Josefin Sans"/>
                <a:ea typeface="Josefin Sans"/>
                <a:cs typeface="Josefin Sans"/>
                <a:sym typeface="Josefin Sans"/>
              </a:rPr>
              <a:t>                                                                                                                                                            </a:t>
            </a:r>
            <a:endParaRPr b="1" sz="900">
              <a:solidFill>
                <a:schemeClr val="dk1"/>
              </a:solidFill>
              <a:latin typeface="Josefin Sans"/>
              <a:ea typeface="Josefin Sans"/>
              <a:cs typeface="Josefin Sans"/>
              <a:sym typeface="Josefin Sans"/>
            </a:endParaRPr>
          </a:p>
          <a:p>
            <a:pPr indent="0" lvl="0" marL="0" rtl="0" algn="l">
              <a:spcBef>
                <a:spcPts val="0"/>
              </a:spcBef>
              <a:spcAft>
                <a:spcPts val="0"/>
              </a:spcAft>
              <a:buNone/>
            </a:pPr>
            <a:r>
              <a:rPr b="1" lang="en" sz="900">
                <a:solidFill>
                  <a:schemeClr val="dk1"/>
                </a:solidFill>
                <a:latin typeface="Josefin Sans"/>
                <a:ea typeface="Josefin Sans"/>
                <a:cs typeface="Josefin Sans"/>
                <a:sym typeface="Josefin Sans"/>
              </a:rPr>
              <a:t>           </a:t>
            </a:r>
            <a:endParaRPr sz="1200">
              <a:solidFill>
                <a:schemeClr val="dk1"/>
              </a:solidFill>
              <a:latin typeface="Josefin Sans"/>
              <a:ea typeface="Josefin Sans"/>
              <a:cs typeface="Josefin Sans"/>
              <a:sym typeface="Josefin Sans"/>
            </a:endParaRPr>
          </a:p>
          <a:p>
            <a:pPr indent="0" lvl="0" marL="0" rtl="0" algn="l">
              <a:spcBef>
                <a:spcPts val="0"/>
              </a:spcBef>
              <a:spcAft>
                <a:spcPts val="0"/>
              </a:spcAft>
              <a:buNone/>
            </a:pPr>
            <a:r>
              <a:t/>
            </a:r>
            <a:endParaRPr sz="1200">
              <a:solidFill>
                <a:schemeClr val="dk1"/>
              </a:solidFill>
              <a:latin typeface="Josefin Sans"/>
              <a:ea typeface="Josefin Sans"/>
              <a:cs typeface="Josefin Sans"/>
              <a:sym typeface="Josefin Sans"/>
            </a:endParaRPr>
          </a:p>
          <a:p>
            <a:pPr indent="0" lvl="0" marL="0" rtl="0" algn="l">
              <a:lnSpc>
                <a:spcPct val="115000"/>
              </a:lnSpc>
              <a:spcBef>
                <a:spcPts val="0"/>
              </a:spcBef>
              <a:spcAft>
                <a:spcPts val="0"/>
              </a:spcAft>
              <a:buNone/>
            </a:pPr>
            <a:r>
              <a:rPr b="1" lang="en" sz="1200">
                <a:solidFill>
                  <a:schemeClr val="dk1"/>
                </a:solidFill>
                <a:latin typeface="Josefin Sans"/>
                <a:ea typeface="Josefin Sans"/>
                <a:cs typeface="Josefin Sans"/>
                <a:sym typeface="Josefin Sans"/>
              </a:rPr>
              <a:t>4) The Final Score:</a:t>
            </a:r>
            <a:r>
              <a:rPr lang="en" sz="1200">
                <a:solidFill>
                  <a:schemeClr val="dk1"/>
                </a:solidFill>
                <a:latin typeface="Josefin Sans"/>
                <a:ea typeface="Josefin Sans"/>
                <a:cs typeface="Josefin Sans"/>
                <a:sym typeface="Josefin Sans"/>
              </a:rPr>
              <a:t> Villages are ranked using a "Closeness Coefficient(Ci) ." This mathematically rewards balanced, holistic growth while heavily penalizing extreme weaknesses.</a:t>
            </a:r>
            <a:endParaRPr sz="1200">
              <a:solidFill>
                <a:schemeClr val="dk1"/>
              </a:solidFill>
              <a:latin typeface="Josefin Sans"/>
              <a:ea typeface="Josefin Sans"/>
              <a:cs typeface="Josefin Sans"/>
              <a:sym typeface="Josefin Sans"/>
            </a:endParaRPr>
          </a:p>
          <a:p>
            <a:pPr indent="0" lvl="0" marL="0" rtl="0" algn="l">
              <a:lnSpc>
                <a:spcPct val="115000"/>
              </a:lnSpc>
              <a:spcBef>
                <a:spcPts val="0"/>
              </a:spcBef>
              <a:spcAft>
                <a:spcPts val="0"/>
              </a:spcAft>
              <a:buNone/>
            </a:pPr>
            <a:r>
              <a:t/>
            </a:r>
            <a:endParaRPr sz="1200">
              <a:solidFill>
                <a:schemeClr val="dk1"/>
              </a:solidFill>
              <a:latin typeface="Josefin Sans"/>
              <a:ea typeface="Josefin Sans"/>
              <a:cs typeface="Josefin Sans"/>
              <a:sym typeface="Josefin Sans"/>
            </a:endParaRPr>
          </a:p>
          <a:p>
            <a:pPr indent="0" lvl="0" marL="0" rtl="0" algn="l">
              <a:lnSpc>
                <a:spcPct val="115000"/>
              </a:lnSpc>
              <a:spcBef>
                <a:spcPts val="0"/>
              </a:spcBef>
              <a:spcAft>
                <a:spcPts val="0"/>
              </a:spcAft>
              <a:buNone/>
            </a:pPr>
            <a:r>
              <a:t/>
            </a:r>
            <a:endParaRPr sz="1200">
              <a:solidFill>
                <a:schemeClr val="dk1"/>
              </a:solidFill>
              <a:latin typeface="Josefin Sans"/>
              <a:ea typeface="Josefin Sans"/>
              <a:cs typeface="Josefin Sans"/>
              <a:sym typeface="Josefin Sans"/>
            </a:endParaRPr>
          </a:p>
        </p:txBody>
      </p:sp>
      <p:sp>
        <p:nvSpPr>
          <p:cNvPr id="90" name="Google Shape;90;p17"/>
          <p:cNvSpPr txBox="1"/>
          <p:nvPr/>
        </p:nvSpPr>
        <p:spPr>
          <a:xfrm>
            <a:off x="182875" y="3493775"/>
            <a:ext cx="7353300" cy="504900"/>
          </a:xfrm>
          <a:prstGeom prst="rect">
            <a:avLst/>
          </a:prstGeom>
          <a:solidFill>
            <a:srgbClr val="D9D9D9"/>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900">
                <a:solidFill>
                  <a:schemeClr val="dk1"/>
                </a:solidFill>
                <a:latin typeface="Josefin Sans"/>
                <a:ea typeface="Josefin Sans"/>
                <a:cs typeface="Josefin Sans"/>
                <a:sym typeface="Josefin Sans"/>
              </a:rPr>
              <a:t>Distance to the Ideal Best                                      Distance to the Ideal Worst                           </a:t>
            </a:r>
            <a:endParaRPr sz="1800">
              <a:solidFill>
                <a:schemeClr val="dk2"/>
              </a:solidFill>
            </a:endParaRPr>
          </a:p>
        </p:txBody>
      </p:sp>
      <p:sp>
        <p:nvSpPr>
          <p:cNvPr id="91" name="Google Shape;91;p17"/>
          <p:cNvSpPr txBox="1"/>
          <p:nvPr/>
        </p:nvSpPr>
        <p:spPr>
          <a:xfrm>
            <a:off x="50825" y="41150"/>
            <a:ext cx="9040500" cy="580800"/>
          </a:xfrm>
          <a:prstGeom prst="rect">
            <a:avLst/>
          </a:prstGeom>
          <a:solidFill>
            <a:srgbClr val="B7B7B7"/>
          </a:solidFill>
          <a:ln>
            <a:noFill/>
          </a:ln>
          <a:effectLst>
            <a:outerShdw blurRad="57150" rotWithShape="0" algn="bl" dir="5400000" dist="19050">
              <a:srgbClr val="000000">
                <a:alpha val="41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Josefin Sans"/>
                <a:ea typeface="Josefin Sans"/>
                <a:cs typeface="Josefin Sans"/>
                <a:sym typeface="Josefin Sans"/>
              </a:rPr>
              <a:t>Geospatial Data Pipeline and Ranking Methodology</a:t>
            </a:r>
            <a:endParaRPr b="1" sz="2400">
              <a:latin typeface="Josefin Sans"/>
              <a:ea typeface="Josefin Sans"/>
              <a:cs typeface="Josefin Sans"/>
              <a:sym typeface="Josefin Sans"/>
            </a:endParaRPr>
          </a:p>
        </p:txBody>
      </p:sp>
      <p:graphicFrame>
        <p:nvGraphicFramePr>
          <p:cNvPr id="92" name="Google Shape;92;p17"/>
          <p:cNvGraphicFramePr/>
          <p:nvPr/>
        </p:nvGraphicFramePr>
        <p:xfrm>
          <a:off x="50825" y="666750"/>
          <a:ext cx="3000000" cy="3000000"/>
        </p:xfrm>
        <a:graphic>
          <a:graphicData uri="http://schemas.openxmlformats.org/drawingml/2006/table">
            <a:tbl>
              <a:tblPr>
                <a:noFill/>
                <a:tableStyleId>{CDA8D01C-19A1-4183-8F4B-27D5D766EF26}</a:tableStyleId>
              </a:tblPr>
              <a:tblGrid>
                <a:gridCol w="4476750"/>
              </a:tblGrid>
              <a:tr h="345225">
                <a:tc>
                  <a:txBody>
                    <a:bodyPr/>
                    <a:lstStyle/>
                    <a:p>
                      <a:pPr indent="0" lvl="0" marL="0" rtl="0" algn="l">
                        <a:spcBef>
                          <a:spcPts val="0"/>
                        </a:spcBef>
                        <a:spcAft>
                          <a:spcPts val="0"/>
                        </a:spcAft>
                        <a:buNone/>
                      </a:pPr>
                      <a:r>
                        <a:rPr b="1" lang="en" sz="1200">
                          <a:solidFill>
                            <a:schemeClr val="dk1"/>
                          </a:solidFill>
                          <a:latin typeface="Josefin Sans"/>
                          <a:ea typeface="Josefin Sans"/>
                          <a:cs typeface="Josefin Sans"/>
                          <a:sym typeface="Josefin Sans"/>
                        </a:rPr>
                        <a:t>b) Weighting Strategy </a:t>
                      </a:r>
                      <a:endParaRPr/>
                    </a:p>
                  </a:txBody>
                  <a:tcPr marT="91425" marB="91425" marR="91425" marL="91425">
                    <a:solidFill>
                      <a:srgbClr val="CCCCCC"/>
                    </a:solidFill>
                  </a:tcPr>
                </a:tc>
              </a:tr>
              <a:tr h="694800">
                <a:tc>
                  <a:txBody>
                    <a:bodyPr/>
                    <a:lstStyle/>
                    <a:p>
                      <a:pPr indent="0" lvl="0" marL="0" rtl="0" algn="l">
                        <a:lnSpc>
                          <a:spcPct val="115000"/>
                        </a:lnSpc>
                        <a:spcBef>
                          <a:spcPts val="1200"/>
                        </a:spcBef>
                        <a:spcAft>
                          <a:spcPts val="1200"/>
                        </a:spcAft>
                        <a:buNone/>
                      </a:pPr>
                      <a:r>
                        <a:rPr b="1" lang="en" sz="1100">
                          <a:solidFill>
                            <a:schemeClr val="dk1"/>
                          </a:solidFill>
                          <a:latin typeface="Josefin Sans"/>
                          <a:ea typeface="Josefin Sans"/>
                          <a:cs typeface="Josefin Sans"/>
                          <a:sym typeface="Josefin Sans"/>
                        </a:rPr>
                        <a:t>Initial Model (PCA): </a:t>
                      </a:r>
                      <a:r>
                        <a:rPr lang="en" sz="1100">
                          <a:solidFill>
                            <a:schemeClr val="dk1"/>
                          </a:solidFill>
                          <a:latin typeface="Josefin Sans"/>
                          <a:ea typeface="Josefin Sans"/>
                          <a:cs typeface="Josefin Sans"/>
                          <a:sym typeface="Josefin Sans"/>
                        </a:rPr>
                        <a:t>Principal Component Analysis was run to objectively extract variance-based weights, removing random human bias. </a:t>
                      </a:r>
                      <a:endParaRPr>
                        <a:latin typeface="Josefin Sans"/>
                        <a:ea typeface="Josefin Sans"/>
                        <a:cs typeface="Josefin Sans"/>
                        <a:sym typeface="Josefin Sans"/>
                      </a:endParaRPr>
                    </a:p>
                  </a:txBody>
                  <a:tcPr marT="91425" marB="91425" marR="91425" marL="91425"/>
                </a:tc>
              </a:tr>
              <a:tr h="583650">
                <a:tc>
                  <a:txBody>
                    <a:bodyPr/>
                    <a:lstStyle/>
                    <a:p>
                      <a:pPr indent="0" lvl="0" marL="0" rtl="0" algn="l">
                        <a:lnSpc>
                          <a:spcPct val="115000"/>
                        </a:lnSpc>
                        <a:spcBef>
                          <a:spcPts val="1200"/>
                        </a:spcBef>
                        <a:spcAft>
                          <a:spcPts val="1200"/>
                        </a:spcAft>
                        <a:buNone/>
                      </a:pPr>
                      <a:r>
                        <a:rPr b="1" lang="en" sz="1100">
                          <a:solidFill>
                            <a:schemeClr val="dk1"/>
                          </a:solidFill>
                          <a:latin typeface="Josefin Sans"/>
                          <a:ea typeface="Josefin Sans"/>
                          <a:cs typeface="Josefin Sans"/>
                          <a:sym typeface="Josefin Sans"/>
                        </a:rPr>
                        <a:t>The Statistical Reality:</a:t>
                      </a:r>
                      <a:r>
                        <a:rPr lang="en" sz="1100">
                          <a:solidFill>
                            <a:schemeClr val="dk1"/>
                          </a:solidFill>
                          <a:latin typeface="Josefin Sans"/>
                          <a:ea typeface="Josefin Sans"/>
                          <a:cs typeface="Josefin Sans"/>
                          <a:sym typeface="Josefin Sans"/>
                        </a:rPr>
                        <a:t> PCA assigned disproportionate weight (55.7%) to Road Density due to high spatial variance in the OSM data. </a:t>
                      </a:r>
                      <a:endParaRPr>
                        <a:latin typeface="Josefin Sans"/>
                        <a:ea typeface="Josefin Sans"/>
                        <a:cs typeface="Josefin Sans"/>
                        <a:sym typeface="Josefin Sans"/>
                      </a:endParaRPr>
                    </a:p>
                  </a:txBody>
                  <a:tcPr marT="91425" marB="91425" marR="91425" marL="91425"/>
                </a:tc>
              </a:tr>
              <a:tr h="512825">
                <a:tc>
                  <a:txBody>
                    <a:bodyPr/>
                    <a:lstStyle/>
                    <a:p>
                      <a:pPr indent="0" lvl="0" marL="0" rtl="0" algn="l">
                        <a:lnSpc>
                          <a:spcPct val="115000"/>
                        </a:lnSpc>
                        <a:spcBef>
                          <a:spcPts val="1200"/>
                        </a:spcBef>
                        <a:spcAft>
                          <a:spcPts val="1200"/>
                        </a:spcAft>
                        <a:buNone/>
                      </a:pPr>
                      <a:r>
                        <a:rPr lang="en" sz="1100">
                          <a:latin typeface="Josefin Sans"/>
                          <a:ea typeface="Josefin Sans"/>
                          <a:cs typeface="Josefin Sans"/>
                          <a:sym typeface="Josefin Sans"/>
                        </a:rPr>
                        <a:t>To prevent the model from becoming a pure "Infrastructure Index," weights were manually </a:t>
                      </a:r>
                      <a:r>
                        <a:rPr lang="en" sz="1100">
                          <a:latin typeface="Josefin Sans"/>
                          <a:ea typeface="Josefin Sans"/>
                          <a:cs typeface="Josefin Sans"/>
                          <a:sym typeface="Josefin Sans"/>
                        </a:rPr>
                        <a:t>recalibrated</a:t>
                      </a:r>
                      <a:r>
                        <a:rPr lang="en" sz="1100">
                          <a:latin typeface="Josefin Sans"/>
                          <a:ea typeface="Josefin Sans"/>
                          <a:cs typeface="Josefin Sans"/>
                          <a:sym typeface="Josefin Sans"/>
                        </a:rPr>
                        <a:t>.</a:t>
                      </a:r>
                      <a:endParaRPr>
                        <a:latin typeface="Josefin Sans"/>
                        <a:ea typeface="Josefin Sans"/>
                        <a:cs typeface="Josefin Sans"/>
                        <a:sym typeface="Josefin Sans"/>
                      </a:endParaRPr>
                    </a:p>
                  </a:txBody>
                  <a:tcPr marT="91425" marB="91425" marR="91425" marL="91425"/>
                </a:tc>
              </a:tr>
            </a:tbl>
          </a:graphicData>
        </a:graphic>
      </p:graphicFrame>
      <p:graphicFrame>
        <p:nvGraphicFramePr>
          <p:cNvPr id="93" name="Google Shape;93;p17"/>
          <p:cNvGraphicFramePr/>
          <p:nvPr/>
        </p:nvGraphicFramePr>
        <p:xfrm>
          <a:off x="4705350" y="720913"/>
          <a:ext cx="3000000" cy="3000000"/>
        </p:xfrm>
        <a:graphic>
          <a:graphicData uri="http://schemas.openxmlformats.org/drawingml/2006/table">
            <a:tbl>
              <a:tblPr>
                <a:noFill/>
                <a:tableStyleId>{CDA8D01C-19A1-4183-8F4B-27D5D766EF26}</a:tableStyleId>
              </a:tblPr>
              <a:tblGrid>
                <a:gridCol w="1213925"/>
                <a:gridCol w="1299850"/>
                <a:gridCol w="1772475"/>
              </a:tblGrid>
              <a:tr h="506550">
                <a:tc>
                  <a:txBody>
                    <a:bodyPr/>
                    <a:lstStyle/>
                    <a:p>
                      <a:pPr indent="0" lvl="0" marL="0" rtl="0" algn="l">
                        <a:spcBef>
                          <a:spcPts val="0"/>
                        </a:spcBef>
                        <a:spcAft>
                          <a:spcPts val="0"/>
                        </a:spcAft>
                        <a:buNone/>
                      </a:pPr>
                      <a:r>
                        <a:rPr lang="en" sz="1100">
                          <a:latin typeface="Josefin Sans SemiBold"/>
                          <a:ea typeface="Josefin Sans SemiBold"/>
                          <a:cs typeface="Josefin Sans SemiBold"/>
                          <a:sym typeface="Josefin Sans SemiBold"/>
                        </a:rPr>
                        <a:t>Class</a:t>
                      </a:r>
                      <a:endParaRPr sz="1100">
                        <a:latin typeface="Josefin Sans SemiBold"/>
                        <a:ea typeface="Josefin Sans SemiBold"/>
                        <a:cs typeface="Josefin Sans SemiBold"/>
                        <a:sym typeface="Josefin Sans SemiBold"/>
                      </a:endParaRPr>
                    </a:p>
                  </a:txBody>
                  <a:tcPr marT="91425" marB="91425" marR="91425" marL="91425">
                    <a:solidFill>
                      <a:srgbClr val="EFEFEF"/>
                    </a:solidFill>
                  </a:tcPr>
                </a:tc>
                <a:tc>
                  <a:txBody>
                    <a:bodyPr/>
                    <a:lstStyle/>
                    <a:p>
                      <a:pPr indent="0" lvl="0" marL="0" rtl="0" algn="l">
                        <a:spcBef>
                          <a:spcPts val="0"/>
                        </a:spcBef>
                        <a:spcAft>
                          <a:spcPts val="0"/>
                        </a:spcAft>
                        <a:buNone/>
                      </a:pPr>
                      <a:r>
                        <a:rPr lang="en" sz="1100">
                          <a:latin typeface="Josefin Sans SemiBold"/>
                          <a:ea typeface="Josefin Sans SemiBold"/>
                          <a:cs typeface="Josefin Sans SemiBold"/>
                          <a:sym typeface="Josefin Sans SemiBold"/>
                        </a:rPr>
                        <a:t>PCA weights (%)</a:t>
                      </a:r>
                      <a:endParaRPr sz="1100">
                        <a:latin typeface="Josefin Sans SemiBold"/>
                        <a:ea typeface="Josefin Sans SemiBold"/>
                        <a:cs typeface="Josefin Sans SemiBold"/>
                        <a:sym typeface="Josefin Sans SemiBold"/>
                      </a:endParaRPr>
                    </a:p>
                  </a:txBody>
                  <a:tcPr marT="91425" marB="91425" marR="91425" marL="91425">
                    <a:solidFill>
                      <a:srgbClr val="EFEFEF"/>
                    </a:solidFill>
                  </a:tcPr>
                </a:tc>
                <a:tc>
                  <a:txBody>
                    <a:bodyPr/>
                    <a:lstStyle/>
                    <a:p>
                      <a:pPr indent="0" lvl="0" marL="0" rtl="0" algn="l">
                        <a:spcBef>
                          <a:spcPts val="0"/>
                        </a:spcBef>
                        <a:spcAft>
                          <a:spcPts val="0"/>
                        </a:spcAft>
                        <a:buNone/>
                      </a:pPr>
                      <a:r>
                        <a:rPr lang="en" sz="1100">
                          <a:latin typeface="Josefin Sans SemiBold"/>
                          <a:ea typeface="Josefin Sans SemiBold"/>
                          <a:cs typeface="Josefin Sans SemiBold"/>
                          <a:sym typeface="Josefin Sans SemiBold"/>
                        </a:rPr>
                        <a:t>Recalibrated </a:t>
                      </a:r>
                      <a:r>
                        <a:rPr lang="en" sz="1100">
                          <a:latin typeface="Josefin Sans SemiBold"/>
                          <a:ea typeface="Josefin Sans SemiBold"/>
                          <a:cs typeface="Josefin Sans SemiBold"/>
                          <a:sym typeface="Josefin Sans SemiBold"/>
                        </a:rPr>
                        <a:t> weights (%)</a:t>
                      </a:r>
                      <a:endParaRPr sz="1100">
                        <a:latin typeface="Josefin Sans SemiBold"/>
                        <a:ea typeface="Josefin Sans SemiBold"/>
                        <a:cs typeface="Josefin Sans SemiBold"/>
                        <a:sym typeface="Josefin Sans SemiBold"/>
                      </a:endParaRPr>
                    </a:p>
                  </a:txBody>
                  <a:tcPr marT="91425" marB="91425" marR="91425" marL="91425">
                    <a:solidFill>
                      <a:srgbClr val="EFEFEF"/>
                    </a:solidFill>
                  </a:tcPr>
                </a:tc>
              </a:tr>
              <a:tr h="348225">
                <a:tc>
                  <a:txBody>
                    <a:bodyPr/>
                    <a:lstStyle/>
                    <a:p>
                      <a:pPr indent="0" lvl="0" marL="0" rtl="0" algn="l">
                        <a:spcBef>
                          <a:spcPts val="0"/>
                        </a:spcBef>
                        <a:spcAft>
                          <a:spcPts val="0"/>
                        </a:spcAft>
                        <a:buNone/>
                      </a:pPr>
                      <a:r>
                        <a:rPr lang="en" sz="1100">
                          <a:latin typeface="Josefin Sans SemiBold"/>
                          <a:ea typeface="Josefin Sans SemiBold"/>
                          <a:cs typeface="Josefin Sans SemiBold"/>
                          <a:sym typeface="Josefin Sans SemiBold"/>
                        </a:rPr>
                        <a:t>BuiltUp</a:t>
                      </a:r>
                      <a:endParaRPr sz="1100">
                        <a:latin typeface="Josefin Sans SemiBold"/>
                        <a:ea typeface="Josefin Sans SemiBold"/>
                        <a:cs typeface="Josefin Sans SemiBold"/>
                        <a:sym typeface="Josefin Sans SemiBold"/>
                      </a:endParaRPr>
                    </a:p>
                  </a:txBody>
                  <a:tcPr marT="91425" marB="91425" marR="91425" marL="91425">
                    <a:solidFill>
                      <a:srgbClr val="EFEFEF"/>
                    </a:solidFill>
                  </a:tcPr>
                </a:tc>
                <a:tc>
                  <a:txBody>
                    <a:bodyPr/>
                    <a:lstStyle/>
                    <a:p>
                      <a:pPr indent="0" lvl="0" marL="0" rtl="0" algn="r">
                        <a:spcBef>
                          <a:spcPts val="0"/>
                        </a:spcBef>
                        <a:spcAft>
                          <a:spcPts val="0"/>
                        </a:spcAft>
                        <a:buNone/>
                      </a:pPr>
                      <a:r>
                        <a:rPr lang="en" sz="1100">
                          <a:latin typeface="Josefin Sans"/>
                          <a:ea typeface="Josefin Sans"/>
                          <a:cs typeface="Josefin Sans"/>
                          <a:sym typeface="Josefin Sans"/>
                        </a:rPr>
                        <a:t>13.3</a:t>
                      </a:r>
                      <a:endParaRPr sz="1100">
                        <a:latin typeface="Josefin Sans"/>
                        <a:ea typeface="Josefin Sans"/>
                        <a:cs typeface="Josefin Sans"/>
                        <a:sym typeface="Josefin Sans"/>
                      </a:endParaRPr>
                    </a:p>
                  </a:txBody>
                  <a:tcPr marT="91425" marB="91425" marR="91425" marL="91425"/>
                </a:tc>
                <a:tc>
                  <a:txBody>
                    <a:bodyPr/>
                    <a:lstStyle/>
                    <a:p>
                      <a:pPr indent="0" lvl="0" marL="0" rtl="0" algn="r">
                        <a:spcBef>
                          <a:spcPts val="0"/>
                        </a:spcBef>
                        <a:spcAft>
                          <a:spcPts val="0"/>
                        </a:spcAft>
                        <a:buNone/>
                      </a:pPr>
                      <a:r>
                        <a:rPr lang="en" sz="1100">
                          <a:latin typeface="Josefin Sans"/>
                          <a:ea typeface="Josefin Sans"/>
                          <a:cs typeface="Josefin Sans"/>
                          <a:sym typeface="Josefin Sans"/>
                        </a:rPr>
                        <a:t>25</a:t>
                      </a:r>
                      <a:endParaRPr sz="1100">
                        <a:latin typeface="Josefin Sans"/>
                        <a:ea typeface="Josefin Sans"/>
                        <a:cs typeface="Josefin Sans"/>
                        <a:sym typeface="Josefin Sans"/>
                      </a:endParaRPr>
                    </a:p>
                  </a:txBody>
                  <a:tcPr marT="91425" marB="91425" marR="91425" marL="91425"/>
                </a:tc>
              </a:tr>
              <a:tr h="348225">
                <a:tc>
                  <a:txBody>
                    <a:bodyPr/>
                    <a:lstStyle/>
                    <a:p>
                      <a:pPr indent="0" lvl="0" marL="0" rtl="0" algn="l">
                        <a:spcBef>
                          <a:spcPts val="0"/>
                        </a:spcBef>
                        <a:spcAft>
                          <a:spcPts val="0"/>
                        </a:spcAft>
                        <a:buNone/>
                      </a:pPr>
                      <a:r>
                        <a:rPr lang="en" sz="1100">
                          <a:latin typeface="Josefin Sans SemiBold"/>
                          <a:ea typeface="Josefin Sans SemiBold"/>
                          <a:cs typeface="Josefin Sans SemiBold"/>
                          <a:sym typeface="Josefin Sans SemiBold"/>
                        </a:rPr>
                        <a:t>CropLand</a:t>
                      </a:r>
                      <a:endParaRPr sz="1100">
                        <a:latin typeface="Josefin Sans SemiBold"/>
                        <a:ea typeface="Josefin Sans SemiBold"/>
                        <a:cs typeface="Josefin Sans SemiBold"/>
                        <a:sym typeface="Josefin Sans SemiBold"/>
                      </a:endParaRPr>
                    </a:p>
                  </a:txBody>
                  <a:tcPr marT="91425" marB="91425" marR="91425" marL="91425">
                    <a:solidFill>
                      <a:srgbClr val="EFEFEF"/>
                    </a:solidFill>
                  </a:tcPr>
                </a:tc>
                <a:tc>
                  <a:txBody>
                    <a:bodyPr/>
                    <a:lstStyle/>
                    <a:p>
                      <a:pPr indent="0" lvl="0" marL="0" rtl="0" algn="r">
                        <a:spcBef>
                          <a:spcPts val="0"/>
                        </a:spcBef>
                        <a:spcAft>
                          <a:spcPts val="0"/>
                        </a:spcAft>
                        <a:buNone/>
                      </a:pPr>
                      <a:r>
                        <a:rPr lang="en" sz="1100">
                          <a:latin typeface="Josefin Sans"/>
                          <a:ea typeface="Josefin Sans"/>
                          <a:cs typeface="Josefin Sans"/>
                          <a:sym typeface="Josefin Sans"/>
                        </a:rPr>
                        <a:t>15.1</a:t>
                      </a:r>
                      <a:endParaRPr sz="1100">
                        <a:latin typeface="Josefin Sans"/>
                        <a:ea typeface="Josefin Sans"/>
                        <a:cs typeface="Josefin Sans"/>
                        <a:sym typeface="Josefin Sans"/>
                      </a:endParaRPr>
                    </a:p>
                  </a:txBody>
                  <a:tcPr marT="91425" marB="91425" marR="91425" marL="91425"/>
                </a:tc>
                <a:tc>
                  <a:txBody>
                    <a:bodyPr/>
                    <a:lstStyle/>
                    <a:p>
                      <a:pPr indent="0" lvl="0" marL="0" rtl="0" algn="r">
                        <a:spcBef>
                          <a:spcPts val="0"/>
                        </a:spcBef>
                        <a:spcAft>
                          <a:spcPts val="0"/>
                        </a:spcAft>
                        <a:buNone/>
                      </a:pPr>
                      <a:r>
                        <a:rPr lang="en" sz="1100">
                          <a:latin typeface="Josefin Sans"/>
                          <a:ea typeface="Josefin Sans"/>
                          <a:cs typeface="Josefin Sans"/>
                          <a:sym typeface="Josefin Sans"/>
                        </a:rPr>
                        <a:t>15</a:t>
                      </a:r>
                      <a:endParaRPr sz="1100">
                        <a:latin typeface="Josefin Sans"/>
                        <a:ea typeface="Josefin Sans"/>
                        <a:cs typeface="Josefin Sans"/>
                        <a:sym typeface="Josefin Sans"/>
                      </a:endParaRPr>
                    </a:p>
                  </a:txBody>
                  <a:tcPr marT="91425" marB="91425" marR="91425" marL="91425"/>
                </a:tc>
              </a:tr>
              <a:tr h="348225">
                <a:tc>
                  <a:txBody>
                    <a:bodyPr/>
                    <a:lstStyle/>
                    <a:p>
                      <a:pPr indent="0" lvl="0" marL="0" rtl="0" algn="l">
                        <a:spcBef>
                          <a:spcPts val="0"/>
                        </a:spcBef>
                        <a:spcAft>
                          <a:spcPts val="0"/>
                        </a:spcAft>
                        <a:buNone/>
                      </a:pPr>
                      <a:r>
                        <a:rPr lang="en" sz="1100">
                          <a:latin typeface="Josefin Sans SemiBold"/>
                          <a:ea typeface="Josefin Sans SemiBold"/>
                          <a:cs typeface="Josefin Sans SemiBold"/>
                          <a:sym typeface="Josefin Sans SemiBold"/>
                        </a:rPr>
                        <a:t>Wasteland</a:t>
                      </a:r>
                      <a:endParaRPr sz="1100">
                        <a:latin typeface="Josefin Sans SemiBold"/>
                        <a:ea typeface="Josefin Sans SemiBold"/>
                        <a:cs typeface="Josefin Sans SemiBold"/>
                        <a:sym typeface="Josefin Sans SemiBold"/>
                      </a:endParaRPr>
                    </a:p>
                  </a:txBody>
                  <a:tcPr marT="91425" marB="91425" marR="91425" marL="91425">
                    <a:solidFill>
                      <a:srgbClr val="EFEFEF"/>
                    </a:solidFill>
                  </a:tcPr>
                </a:tc>
                <a:tc>
                  <a:txBody>
                    <a:bodyPr/>
                    <a:lstStyle/>
                    <a:p>
                      <a:pPr indent="0" lvl="0" marL="0" rtl="0" algn="r">
                        <a:spcBef>
                          <a:spcPts val="0"/>
                        </a:spcBef>
                        <a:spcAft>
                          <a:spcPts val="0"/>
                        </a:spcAft>
                        <a:buNone/>
                      </a:pPr>
                      <a:r>
                        <a:rPr lang="en" sz="1100">
                          <a:latin typeface="Josefin Sans"/>
                          <a:ea typeface="Josefin Sans"/>
                          <a:cs typeface="Josefin Sans"/>
                          <a:sym typeface="Josefin Sans"/>
                        </a:rPr>
                        <a:t>1.5</a:t>
                      </a:r>
                      <a:endParaRPr sz="1100">
                        <a:latin typeface="Josefin Sans"/>
                        <a:ea typeface="Josefin Sans"/>
                        <a:cs typeface="Josefin Sans"/>
                        <a:sym typeface="Josefin Sans"/>
                      </a:endParaRPr>
                    </a:p>
                  </a:txBody>
                  <a:tcPr marT="91425" marB="91425" marR="91425" marL="91425"/>
                </a:tc>
                <a:tc>
                  <a:txBody>
                    <a:bodyPr/>
                    <a:lstStyle/>
                    <a:p>
                      <a:pPr indent="0" lvl="0" marL="0" rtl="0" algn="r">
                        <a:spcBef>
                          <a:spcPts val="0"/>
                        </a:spcBef>
                        <a:spcAft>
                          <a:spcPts val="0"/>
                        </a:spcAft>
                        <a:buNone/>
                      </a:pPr>
                      <a:r>
                        <a:rPr lang="en" sz="1100">
                          <a:latin typeface="Josefin Sans"/>
                          <a:ea typeface="Josefin Sans"/>
                          <a:cs typeface="Josefin Sans"/>
                          <a:sym typeface="Josefin Sans"/>
                        </a:rPr>
                        <a:t>5</a:t>
                      </a:r>
                      <a:endParaRPr sz="1100">
                        <a:latin typeface="Josefin Sans"/>
                        <a:ea typeface="Josefin Sans"/>
                        <a:cs typeface="Josefin Sans"/>
                        <a:sym typeface="Josefin Sans"/>
                      </a:endParaRPr>
                    </a:p>
                  </a:txBody>
                  <a:tcPr marT="91425" marB="91425" marR="91425" marL="91425"/>
                </a:tc>
              </a:tr>
              <a:tr h="348225">
                <a:tc>
                  <a:txBody>
                    <a:bodyPr/>
                    <a:lstStyle/>
                    <a:p>
                      <a:pPr indent="0" lvl="0" marL="0" rtl="0" algn="l">
                        <a:spcBef>
                          <a:spcPts val="0"/>
                        </a:spcBef>
                        <a:spcAft>
                          <a:spcPts val="0"/>
                        </a:spcAft>
                        <a:buNone/>
                      </a:pPr>
                      <a:r>
                        <a:rPr lang="en" sz="1100">
                          <a:latin typeface="Josefin Sans SemiBold"/>
                          <a:ea typeface="Josefin Sans SemiBold"/>
                          <a:cs typeface="Josefin Sans SemiBold"/>
                          <a:sym typeface="Josefin Sans SemiBold"/>
                        </a:rPr>
                        <a:t>Night light</a:t>
                      </a:r>
                      <a:endParaRPr sz="1100">
                        <a:latin typeface="Josefin Sans SemiBold"/>
                        <a:ea typeface="Josefin Sans SemiBold"/>
                        <a:cs typeface="Josefin Sans SemiBold"/>
                        <a:sym typeface="Josefin Sans SemiBold"/>
                      </a:endParaRPr>
                    </a:p>
                  </a:txBody>
                  <a:tcPr marT="91425" marB="91425" marR="91425" marL="91425">
                    <a:solidFill>
                      <a:srgbClr val="EFEFEF"/>
                    </a:solidFill>
                  </a:tcPr>
                </a:tc>
                <a:tc>
                  <a:txBody>
                    <a:bodyPr/>
                    <a:lstStyle/>
                    <a:p>
                      <a:pPr indent="0" lvl="0" marL="0" rtl="0" algn="r">
                        <a:spcBef>
                          <a:spcPts val="0"/>
                        </a:spcBef>
                        <a:spcAft>
                          <a:spcPts val="0"/>
                        </a:spcAft>
                        <a:buNone/>
                      </a:pPr>
                      <a:r>
                        <a:rPr lang="en" sz="1100">
                          <a:latin typeface="Josefin Sans"/>
                          <a:ea typeface="Josefin Sans"/>
                          <a:cs typeface="Josefin Sans"/>
                          <a:sym typeface="Josefin Sans"/>
                        </a:rPr>
                        <a:t>14.4</a:t>
                      </a:r>
                      <a:endParaRPr sz="1100">
                        <a:latin typeface="Josefin Sans"/>
                        <a:ea typeface="Josefin Sans"/>
                        <a:cs typeface="Josefin Sans"/>
                        <a:sym typeface="Josefin Sans"/>
                      </a:endParaRPr>
                    </a:p>
                  </a:txBody>
                  <a:tcPr marT="91425" marB="91425" marR="91425" marL="91425"/>
                </a:tc>
                <a:tc>
                  <a:txBody>
                    <a:bodyPr/>
                    <a:lstStyle/>
                    <a:p>
                      <a:pPr indent="0" lvl="0" marL="0" rtl="0" algn="r">
                        <a:spcBef>
                          <a:spcPts val="0"/>
                        </a:spcBef>
                        <a:spcAft>
                          <a:spcPts val="0"/>
                        </a:spcAft>
                        <a:buNone/>
                      </a:pPr>
                      <a:r>
                        <a:rPr lang="en" sz="1100">
                          <a:latin typeface="Josefin Sans"/>
                          <a:ea typeface="Josefin Sans"/>
                          <a:cs typeface="Josefin Sans"/>
                          <a:sym typeface="Josefin Sans"/>
                        </a:rPr>
                        <a:t>20</a:t>
                      </a:r>
                      <a:endParaRPr sz="1100">
                        <a:latin typeface="Josefin Sans"/>
                        <a:ea typeface="Josefin Sans"/>
                        <a:cs typeface="Josefin Sans"/>
                        <a:sym typeface="Josefin Sans"/>
                      </a:endParaRPr>
                    </a:p>
                  </a:txBody>
                  <a:tcPr marT="91425" marB="91425" marR="91425" marL="91425"/>
                </a:tc>
              </a:tr>
              <a:tr h="348225">
                <a:tc>
                  <a:txBody>
                    <a:bodyPr/>
                    <a:lstStyle/>
                    <a:p>
                      <a:pPr indent="0" lvl="0" marL="0" rtl="0" algn="l">
                        <a:spcBef>
                          <a:spcPts val="0"/>
                        </a:spcBef>
                        <a:spcAft>
                          <a:spcPts val="0"/>
                        </a:spcAft>
                        <a:buNone/>
                      </a:pPr>
                      <a:r>
                        <a:rPr lang="en" sz="1100">
                          <a:latin typeface="Josefin Sans SemiBold"/>
                          <a:ea typeface="Josefin Sans SemiBold"/>
                          <a:cs typeface="Josefin Sans SemiBold"/>
                          <a:sym typeface="Josefin Sans SemiBold"/>
                        </a:rPr>
                        <a:t>Road </a:t>
                      </a:r>
                      <a:r>
                        <a:rPr lang="en" sz="1100">
                          <a:latin typeface="Josefin Sans SemiBold"/>
                          <a:ea typeface="Josefin Sans SemiBold"/>
                          <a:cs typeface="Josefin Sans SemiBold"/>
                          <a:sym typeface="Josefin Sans SemiBold"/>
                        </a:rPr>
                        <a:t>density</a:t>
                      </a:r>
                      <a:endParaRPr sz="1100">
                        <a:latin typeface="Josefin Sans SemiBold"/>
                        <a:ea typeface="Josefin Sans SemiBold"/>
                        <a:cs typeface="Josefin Sans SemiBold"/>
                        <a:sym typeface="Josefin Sans SemiBold"/>
                      </a:endParaRPr>
                    </a:p>
                  </a:txBody>
                  <a:tcPr marT="91425" marB="91425" marR="91425" marL="91425">
                    <a:solidFill>
                      <a:srgbClr val="EFEFEF"/>
                    </a:solidFill>
                  </a:tcPr>
                </a:tc>
                <a:tc>
                  <a:txBody>
                    <a:bodyPr/>
                    <a:lstStyle/>
                    <a:p>
                      <a:pPr indent="0" lvl="0" marL="0" rtl="0" algn="r">
                        <a:spcBef>
                          <a:spcPts val="0"/>
                        </a:spcBef>
                        <a:spcAft>
                          <a:spcPts val="0"/>
                        </a:spcAft>
                        <a:buNone/>
                      </a:pPr>
                      <a:r>
                        <a:rPr lang="en" sz="1100">
                          <a:latin typeface="Josefin Sans"/>
                          <a:ea typeface="Josefin Sans"/>
                          <a:cs typeface="Josefin Sans"/>
                          <a:sym typeface="Josefin Sans"/>
                        </a:rPr>
                        <a:t>55.7</a:t>
                      </a:r>
                      <a:endParaRPr sz="1100">
                        <a:latin typeface="Josefin Sans"/>
                        <a:ea typeface="Josefin Sans"/>
                        <a:cs typeface="Josefin Sans"/>
                        <a:sym typeface="Josefin Sans"/>
                      </a:endParaRPr>
                    </a:p>
                  </a:txBody>
                  <a:tcPr marT="91425" marB="91425" marR="91425" marL="91425"/>
                </a:tc>
                <a:tc>
                  <a:txBody>
                    <a:bodyPr/>
                    <a:lstStyle/>
                    <a:p>
                      <a:pPr indent="0" lvl="0" marL="0" rtl="0" algn="r">
                        <a:spcBef>
                          <a:spcPts val="0"/>
                        </a:spcBef>
                        <a:spcAft>
                          <a:spcPts val="0"/>
                        </a:spcAft>
                        <a:buNone/>
                      </a:pPr>
                      <a:r>
                        <a:rPr lang="en" sz="1100">
                          <a:latin typeface="Josefin Sans"/>
                          <a:ea typeface="Josefin Sans"/>
                          <a:cs typeface="Josefin Sans"/>
                          <a:sym typeface="Josefin Sans"/>
                        </a:rPr>
                        <a:t>35</a:t>
                      </a:r>
                      <a:endParaRPr sz="1100">
                        <a:latin typeface="Josefin Sans"/>
                        <a:ea typeface="Josefin Sans"/>
                        <a:cs typeface="Josefin Sans"/>
                        <a:sym typeface="Josefin Sans"/>
                      </a:endParaRPr>
                    </a:p>
                  </a:txBody>
                  <a:tcPr marT="91425" marB="91425" marR="91425" marL="91425"/>
                </a:tc>
              </a:tr>
            </a:tbl>
          </a:graphicData>
        </a:graphic>
      </p:graphicFrame>
      <p:pic>
        <p:nvPicPr>
          <p:cNvPr id="94" name="Google Shape;94;p17"/>
          <p:cNvPicPr preferRelativeResize="0"/>
          <p:nvPr/>
        </p:nvPicPr>
        <p:blipFill>
          <a:blip r:embed="rId3">
            <a:alphaModFix/>
          </a:blip>
          <a:stretch>
            <a:fillRect/>
          </a:stretch>
        </p:blipFill>
        <p:spPr>
          <a:xfrm>
            <a:off x="1805000" y="3512825"/>
            <a:ext cx="987725" cy="373000"/>
          </a:xfrm>
          <a:prstGeom prst="rect">
            <a:avLst/>
          </a:prstGeom>
          <a:noFill/>
          <a:ln>
            <a:noFill/>
          </a:ln>
        </p:spPr>
      </p:pic>
      <p:pic>
        <p:nvPicPr>
          <p:cNvPr id="95" name="Google Shape;95;p17"/>
          <p:cNvPicPr preferRelativeResize="0"/>
          <p:nvPr/>
        </p:nvPicPr>
        <p:blipFill>
          <a:blip r:embed="rId4">
            <a:alphaModFix/>
          </a:blip>
          <a:stretch>
            <a:fillRect/>
          </a:stretch>
        </p:blipFill>
        <p:spPr>
          <a:xfrm>
            <a:off x="4629148" y="3503300"/>
            <a:ext cx="1035712" cy="373000"/>
          </a:xfrm>
          <a:prstGeom prst="rect">
            <a:avLst/>
          </a:prstGeom>
          <a:noFill/>
          <a:ln>
            <a:noFill/>
          </a:ln>
        </p:spPr>
      </p:pic>
      <p:pic>
        <p:nvPicPr>
          <p:cNvPr id="96" name="Google Shape;96;p17"/>
          <p:cNvPicPr preferRelativeResize="0"/>
          <p:nvPr/>
        </p:nvPicPr>
        <p:blipFill>
          <a:blip r:embed="rId5">
            <a:alphaModFix/>
          </a:blip>
          <a:stretch>
            <a:fillRect/>
          </a:stretch>
        </p:blipFill>
        <p:spPr>
          <a:xfrm>
            <a:off x="6103000" y="3484400"/>
            <a:ext cx="2243412" cy="580800"/>
          </a:xfrm>
          <a:prstGeom prst="rect">
            <a:avLst/>
          </a:prstGeom>
          <a:noFill/>
          <a:ln>
            <a:noFill/>
          </a:ln>
        </p:spPr>
      </p:pic>
      <p:pic>
        <p:nvPicPr>
          <p:cNvPr id="97" name="Google Shape;97;p17"/>
          <p:cNvPicPr preferRelativeResize="0"/>
          <p:nvPr/>
        </p:nvPicPr>
        <p:blipFill>
          <a:blip r:embed="rId6">
            <a:alphaModFix/>
          </a:blip>
          <a:stretch>
            <a:fillRect/>
          </a:stretch>
        </p:blipFill>
        <p:spPr>
          <a:xfrm>
            <a:off x="3919550" y="4523850"/>
            <a:ext cx="1035700" cy="4391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nvSpPr>
        <p:spPr>
          <a:xfrm>
            <a:off x="50825" y="41150"/>
            <a:ext cx="9040500" cy="580800"/>
          </a:xfrm>
          <a:prstGeom prst="rect">
            <a:avLst/>
          </a:prstGeom>
          <a:solidFill>
            <a:srgbClr val="B7B7B7"/>
          </a:solidFill>
          <a:ln>
            <a:noFill/>
          </a:ln>
          <a:effectLst>
            <a:outerShdw blurRad="57150" rotWithShape="0" algn="bl" dir="5400000" dist="19050">
              <a:srgbClr val="000000">
                <a:alpha val="41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Josefin Sans"/>
                <a:ea typeface="Josefin Sans"/>
                <a:cs typeface="Josefin Sans"/>
                <a:sym typeface="Josefin Sans"/>
              </a:rPr>
              <a:t>Results and Discussions</a:t>
            </a:r>
            <a:endParaRPr b="1" sz="2400">
              <a:latin typeface="Josefin Sans"/>
              <a:ea typeface="Josefin Sans"/>
              <a:cs typeface="Josefin Sans"/>
              <a:sym typeface="Josefin Sans"/>
            </a:endParaRPr>
          </a:p>
        </p:txBody>
      </p:sp>
      <p:pic>
        <p:nvPicPr>
          <p:cNvPr id="103" name="Google Shape;103;p18" title="Top100.jpg"/>
          <p:cNvPicPr preferRelativeResize="0"/>
          <p:nvPr/>
        </p:nvPicPr>
        <p:blipFill>
          <a:blip r:embed="rId3">
            <a:alphaModFix/>
          </a:blip>
          <a:stretch>
            <a:fillRect/>
          </a:stretch>
        </p:blipFill>
        <p:spPr>
          <a:xfrm>
            <a:off x="114300" y="698150"/>
            <a:ext cx="3145723" cy="2224124"/>
          </a:xfrm>
          <a:prstGeom prst="rect">
            <a:avLst/>
          </a:prstGeom>
          <a:noFill/>
          <a:ln>
            <a:noFill/>
          </a:ln>
        </p:spPr>
      </p:pic>
      <p:sp>
        <p:nvSpPr>
          <p:cNvPr id="104" name="Google Shape;104;p18"/>
          <p:cNvSpPr txBox="1"/>
          <p:nvPr/>
        </p:nvSpPr>
        <p:spPr>
          <a:xfrm>
            <a:off x="50825" y="2922283"/>
            <a:ext cx="4146600" cy="2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Montserrat"/>
                <a:ea typeface="Montserrat"/>
                <a:cs typeface="Montserrat"/>
                <a:sym typeface="Montserrat"/>
              </a:rPr>
              <a:t>Fig 3: Map showing top 100 villages</a:t>
            </a:r>
            <a:endParaRPr sz="1300">
              <a:solidFill>
                <a:schemeClr val="dk1"/>
              </a:solidFill>
              <a:latin typeface="Montserrat"/>
              <a:ea typeface="Montserrat"/>
              <a:cs typeface="Montserrat"/>
              <a:sym typeface="Montserrat"/>
            </a:endParaRPr>
          </a:p>
        </p:txBody>
      </p:sp>
      <p:graphicFrame>
        <p:nvGraphicFramePr>
          <p:cNvPr id="105" name="Google Shape;105;p18"/>
          <p:cNvGraphicFramePr/>
          <p:nvPr/>
        </p:nvGraphicFramePr>
        <p:xfrm>
          <a:off x="3724300" y="742950"/>
          <a:ext cx="3000000" cy="3000000"/>
        </p:xfrm>
        <a:graphic>
          <a:graphicData uri="http://schemas.openxmlformats.org/drawingml/2006/table">
            <a:tbl>
              <a:tblPr>
                <a:noFill/>
                <a:tableStyleId>{CDA8D01C-19A1-4183-8F4B-27D5D766EF26}</a:tableStyleId>
              </a:tblPr>
              <a:tblGrid>
                <a:gridCol w="889650"/>
                <a:gridCol w="889650"/>
                <a:gridCol w="889650"/>
                <a:gridCol w="889650"/>
                <a:gridCol w="889650"/>
              </a:tblGrid>
              <a:tr h="279475">
                <a:tc>
                  <a:txBody>
                    <a:bodyPr/>
                    <a:lstStyle/>
                    <a:p>
                      <a:pPr indent="0" lvl="0" marL="0" rtl="0" algn="l">
                        <a:lnSpc>
                          <a:spcPct val="115000"/>
                        </a:lnSpc>
                        <a:spcBef>
                          <a:spcPts val="0"/>
                        </a:spcBef>
                        <a:spcAft>
                          <a:spcPts val="0"/>
                        </a:spcAft>
                        <a:buNone/>
                      </a:pPr>
                      <a:r>
                        <a:rPr b="1" lang="en" sz="1100">
                          <a:latin typeface="Josefin Sans"/>
                          <a:ea typeface="Josefin Sans"/>
                          <a:cs typeface="Josefin Sans"/>
                          <a:sym typeface="Josefin Sans"/>
                        </a:rPr>
                        <a:t>Village</a:t>
                      </a:r>
                      <a:endParaRPr b="1" sz="11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en" sz="1100">
                          <a:latin typeface="Josefin Sans"/>
                          <a:ea typeface="Josefin Sans"/>
                          <a:cs typeface="Josefin Sans"/>
                          <a:sym typeface="Josefin Sans"/>
                        </a:rPr>
                        <a:t>Block</a:t>
                      </a:r>
                      <a:endParaRPr b="1" sz="11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en" sz="1100">
                          <a:latin typeface="Josefin Sans"/>
                          <a:ea typeface="Josefin Sans"/>
                          <a:cs typeface="Josefin Sans"/>
                          <a:sym typeface="Josefin Sans"/>
                        </a:rPr>
                        <a:t>District</a:t>
                      </a:r>
                      <a:endParaRPr b="1" sz="11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en" sz="1000">
                          <a:latin typeface="Josefin Sans"/>
                          <a:ea typeface="Josefin Sans"/>
                          <a:cs typeface="Josefin Sans"/>
                          <a:sym typeface="Josefin Sans"/>
                        </a:rPr>
                        <a:t>Rank</a:t>
                      </a:r>
                      <a:endParaRPr b="1" sz="10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en" sz="700">
                          <a:latin typeface="Josefin Sans"/>
                          <a:ea typeface="Josefin Sans"/>
                          <a:cs typeface="Josefin Sans"/>
                          <a:sym typeface="Josefin Sans"/>
                        </a:rPr>
                        <a:t>TOPSIS Score</a:t>
                      </a:r>
                      <a:endParaRPr b="1" sz="7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r>
              <a:tr h="279475">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Annapura</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Tiptur</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Tumakuru</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latin typeface="Josefin Sans"/>
                          <a:ea typeface="Josefin Sans"/>
                          <a:cs typeface="Josefin Sans"/>
                          <a:sym typeface="Josefin Sans"/>
                        </a:rPr>
                        <a:t>1</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latin typeface="Josefin Sans"/>
                          <a:ea typeface="Josefin Sans"/>
                          <a:cs typeface="Josefin Sans"/>
                          <a:sym typeface="Josefin Sans"/>
                        </a:rPr>
                        <a:t>0.590</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79475">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Deveerammanahalli</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Nanjangud</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Mysuru</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latin typeface="Josefin Sans"/>
                          <a:ea typeface="Josefin Sans"/>
                          <a:cs typeface="Josefin Sans"/>
                          <a:sym typeface="Josefin Sans"/>
                        </a:rPr>
                        <a:t>2</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latin typeface="Josefin Sans"/>
                          <a:ea typeface="Josefin Sans"/>
                          <a:cs typeface="Josefin Sans"/>
                          <a:sym typeface="Josefin Sans"/>
                        </a:rPr>
                        <a:t>0.581</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79475">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Krishnarajanagara</a:t>
                      </a:r>
                      <a:endParaRPr sz="900">
                        <a:latin typeface="Josefin Sans"/>
                        <a:ea typeface="Josefin Sans"/>
                        <a:cs typeface="Josefin Sans"/>
                        <a:sym typeface="Josefin Sans"/>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sz="900">
                        <a:latin typeface="Josefin Sans"/>
                        <a:ea typeface="Josefin Sans"/>
                        <a:cs typeface="Josefin Sans"/>
                        <a:sym typeface="Josefin Sans"/>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Mysuru</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latin typeface="Josefin Sans"/>
                          <a:ea typeface="Josefin Sans"/>
                          <a:cs typeface="Josefin Sans"/>
                          <a:sym typeface="Josefin Sans"/>
                        </a:rPr>
                        <a:t>3</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latin typeface="Josefin Sans"/>
                          <a:ea typeface="Josefin Sans"/>
                          <a:cs typeface="Josefin Sans"/>
                          <a:sym typeface="Josefin Sans"/>
                        </a:rPr>
                        <a:t>0.566</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79475">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Belavadi</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Mysore</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Mysuru</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latin typeface="Josefin Sans"/>
                          <a:ea typeface="Josefin Sans"/>
                          <a:cs typeface="Josefin Sans"/>
                          <a:sym typeface="Josefin Sans"/>
                        </a:rPr>
                        <a:t>4</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latin typeface="Josefin Sans"/>
                          <a:ea typeface="Josefin Sans"/>
                          <a:cs typeface="Josefin Sans"/>
                          <a:sym typeface="Josefin Sans"/>
                        </a:rPr>
                        <a:t>0.561</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79475">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Nanjangud</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Josefin Sans"/>
                          <a:ea typeface="Josefin Sans"/>
                          <a:cs typeface="Josefin Sans"/>
                          <a:sym typeface="Josefin Sans"/>
                        </a:rPr>
                        <a:t>Mysuru</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latin typeface="Josefin Sans"/>
                          <a:ea typeface="Josefin Sans"/>
                          <a:cs typeface="Josefin Sans"/>
                          <a:sym typeface="Josefin Sans"/>
                        </a:rPr>
                        <a:t>5</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latin typeface="Josefin Sans"/>
                          <a:ea typeface="Josefin Sans"/>
                          <a:cs typeface="Josefin Sans"/>
                          <a:sym typeface="Josefin Sans"/>
                        </a:rPr>
                        <a:t>0.554</a:t>
                      </a:r>
                      <a:endParaRPr sz="900">
                        <a:latin typeface="Josefin Sans"/>
                        <a:ea typeface="Josefin Sans"/>
                        <a:cs typeface="Josefin Sans"/>
                        <a:sym typeface="Josefin Sa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06" name="Google Shape;106;p18"/>
          <p:cNvSpPr txBox="1"/>
          <p:nvPr/>
        </p:nvSpPr>
        <p:spPr>
          <a:xfrm>
            <a:off x="173350" y="3493775"/>
            <a:ext cx="8432100" cy="1477500"/>
          </a:xfrm>
          <a:prstGeom prst="rect">
            <a:avLst/>
          </a:prstGeom>
          <a:solidFill>
            <a:schemeClr val="lt2"/>
          </a:solid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Josefin Sans"/>
              <a:buChar char="●"/>
            </a:pPr>
            <a:r>
              <a:rPr lang="en" sz="1200">
                <a:solidFill>
                  <a:schemeClr val="dk1"/>
                </a:solidFill>
                <a:latin typeface="Josefin Sans"/>
                <a:ea typeface="Josefin Sans"/>
                <a:cs typeface="Josefin Sans"/>
                <a:sym typeface="Josefin Sans"/>
              </a:rPr>
              <a:t>The highest concentration of Top 100 villages is in the Mysuru district, directly reflecting its status as Karnataka's second fastest-growing economic hub. </a:t>
            </a:r>
            <a:endParaRPr sz="1200">
              <a:solidFill>
                <a:schemeClr val="dk1"/>
              </a:solidFill>
              <a:latin typeface="Josefin Sans"/>
              <a:ea typeface="Josefin Sans"/>
              <a:cs typeface="Josefin Sans"/>
              <a:sym typeface="Josefin Sans"/>
            </a:endParaRPr>
          </a:p>
          <a:p>
            <a:pPr indent="-304800" lvl="0" marL="457200" rtl="0" algn="l">
              <a:spcBef>
                <a:spcPts val="0"/>
              </a:spcBef>
              <a:spcAft>
                <a:spcPts val="0"/>
              </a:spcAft>
              <a:buClr>
                <a:schemeClr val="dk1"/>
              </a:buClr>
              <a:buSzPts val="1200"/>
              <a:buFont typeface="Josefin Sans"/>
              <a:buChar char="●"/>
            </a:pPr>
            <a:r>
              <a:rPr lang="en" sz="1200">
                <a:solidFill>
                  <a:schemeClr val="dk1"/>
                </a:solidFill>
                <a:latin typeface="Josefin Sans"/>
                <a:ea typeface="Josefin Sans"/>
                <a:cs typeface="Josefin Sans"/>
                <a:sym typeface="Josefin Sans"/>
              </a:rPr>
              <a:t>Significant clustering observed in Tumakuru and Hassan. Growth here is distinctly linear, driven by National Highway connectivity to the Bengaluru metropolis. </a:t>
            </a:r>
            <a:endParaRPr sz="1200">
              <a:solidFill>
                <a:schemeClr val="dk1"/>
              </a:solidFill>
              <a:latin typeface="Josefin Sans"/>
              <a:ea typeface="Josefin Sans"/>
              <a:cs typeface="Josefin Sans"/>
              <a:sym typeface="Josefin Sans"/>
            </a:endParaRPr>
          </a:p>
          <a:p>
            <a:pPr indent="-304800" lvl="0" marL="457200" rtl="0" algn="l">
              <a:spcBef>
                <a:spcPts val="0"/>
              </a:spcBef>
              <a:spcAft>
                <a:spcPts val="0"/>
              </a:spcAft>
              <a:buClr>
                <a:schemeClr val="dk1"/>
              </a:buClr>
              <a:buSzPts val="1200"/>
              <a:buFont typeface="Josefin Sans"/>
              <a:buChar char="●"/>
            </a:pPr>
            <a:r>
              <a:rPr lang="en" sz="1200">
                <a:solidFill>
                  <a:schemeClr val="dk1"/>
                </a:solidFill>
                <a:latin typeface="Josefin Sans"/>
                <a:ea typeface="Josefin Sans"/>
                <a:cs typeface="Josefin Sans"/>
                <a:sym typeface="Josefin Sans"/>
              </a:rPr>
              <a:t>Northern Karnataka shows sparse representation, aligning with known regional development lags. The few northern villages that made the Top 100 were propelled almost entirely by major interstate highway construction connecting to Pune and Hyderabad. </a:t>
            </a:r>
            <a:endParaRPr sz="1200">
              <a:solidFill>
                <a:schemeClr val="dk1"/>
              </a:solidFill>
              <a:latin typeface="Josefin Sans"/>
              <a:ea typeface="Josefin Sans"/>
              <a:cs typeface="Josefin Sans"/>
              <a:sym typeface="Josefin Sans"/>
            </a:endParaRPr>
          </a:p>
        </p:txBody>
      </p:sp>
      <p:pic>
        <p:nvPicPr>
          <p:cNvPr id="107" name="Google Shape;107;p18"/>
          <p:cNvPicPr preferRelativeResize="0"/>
          <p:nvPr/>
        </p:nvPicPr>
        <p:blipFill>
          <a:blip r:embed="rId4">
            <a:alphaModFix/>
          </a:blip>
          <a:stretch>
            <a:fillRect/>
          </a:stretch>
        </p:blipFill>
        <p:spPr>
          <a:xfrm>
            <a:off x="5260775" y="2648300"/>
            <a:ext cx="2911775" cy="723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nvSpPr>
        <p:spPr>
          <a:xfrm>
            <a:off x="50825" y="41150"/>
            <a:ext cx="9040500" cy="580800"/>
          </a:xfrm>
          <a:prstGeom prst="rect">
            <a:avLst/>
          </a:prstGeom>
          <a:solidFill>
            <a:srgbClr val="B7B7B7"/>
          </a:solidFill>
          <a:ln>
            <a:noFill/>
          </a:ln>
          <a:effectLst>
            <a:outerShdw blurRad="57150" rotWithShape="0" algn="bl" dir="5400000" dist="19050">
              <a:srgbClr val="000000">
                <a:alpha val="41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Josefin Sans"/>
                <a:ea typeface="Josefin Sans"/>
                <a:cs typeface="Josefin Sans"/>
                <a:sym typeface="Josefin Sans"/>
              </a:rPr>
              <a:t>Limitations and Future Scope</a:t>
            </a:r>
            <a:endParaRPr b="1" sz="2400">
              <a:latin typeface="Josefin Sans"/>
              <a:ea typeface="Josefin Sans"/>
              <a:cs typeface="Josefin Sans"/>
              <a:sym typeface="Josefin Sans"/>
            </a:endParaRPr>
          </a:p>
        </p:txBody>
      </p:sp>
      <p:sp>
        <p:nvSpPr>
          <p:cNvPr id="113" name="Google Shape;113;p19"/>
          <p:cNvSpPr txBox="1"/>
          <p:nvPr/>
        </p:nvSpPr>
        <p:spPr>
          <a:xfrm>
            <a:off x="50825" y="779150"/>
            <a:ext cx="8961600" cy="1831800"/>
          </a:xfrm>
          <a:prstGeom prst="rect">
            <a:avLst/>
          </a:prstGeom>
          <a:solidFill>
            <a:schemeClr val="lt2"/>
          </a:solid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Josefin Sans"/>
              <a:buChar char="●"/>
            </a:pPr>
            <a:r>
              <a:rPr b="1" lang="en" sz="1300">
                <a:solidFill>
                  <a:schemeClr val="dk1"/>
                </a:solidFill>
                <a:latin typeface="Josefin Sans"/>
                <a:ea typeface="Josefin Sans"/>
                <a:cs typeface="Josefin Sans"/>
                <a:sym typeface="Josefin Sans"/>
              </a:rPr>
              <a:t>The Decadal Requirement: </a:t>
            </a:r>
            <a:r>
              <a:rPr lang="en" sz="1300">
                <a:solidFill>
                  <a:schemeClr val="dk1"/>
                </a:solidFill>
                <a:latin typeface="Josefin Sans"/>
                <a:ea typeface="Josefin Sans"/>
                <a:cs typeface="Josefin Sans"/>
                <a:sym typeface="Josefin Sans"/>
              </a:rPr>
              <a:t>A 5-year baseline (2021-2025) captures early-stage infrastructure but is insufficient for measuring mature urban sprawl. Future models require a 10+ year baseline.</a:t>
            </a:r>
            <a:endParaRPr sz="1300">
              <a:solidFill>
                <a:schemeClr val="dk1"/>
              </a:solidFill>
              <a:latin typeface="Josefin Sans"/>
              <a:ea typeface="Josefin Sans"/>
              <a:cs typeface="Josefin Sans"/>
              <a:sym typeface="Josefin Sans"/>
            </a:endParaRPr>
          </a:p>
          <a:p>
            <a:pPr indent="-317500" lvl="0" marL="457200" rtl="0" algn="l">
              <a:spcBef>
                <a:spcPts val="0"/>
              </a:spcBef>
              <a:spcAft>
                <a:spcPts val="0"/>
              </a:spcAft>
              <a:buClr>
                <a:schemeClr val="dk1"/>
              </a:buClr>
              <a:buSzPts val="1400"/>
              <a:buFont typeface="Josefin Sans"/>
              <a:buChar char="●"/>
            </a:pPr>
            <a:r>
              <a:rPr b="1" lang="en" sz="1300">
                <a:solidFill>
                  <a:schemeClr val="dk1"/>
                </a:solidFill>
                <a:latin typeface="Josefin Sans"/>
                <a:ea typeface="Josefin Sans"/>
                <a:cs typeface="Josefin Sans"/>
                <a:sym typeface="Josefin Sans"/>
              </a:rPr>
              <a:t>Transitioning to Cropping Intensity: </a:t>
            </a:r>
            <a:r>
              <a:rPr lang="en" sz="1300">
                <a:solidFill>
                  <a:schemeClr val="dk1"/>
                </a:solidFill>
                <a:latin typeface="Josefin Sans"/>
                <a:ea typeface="Josefin Sans"/>
                <a:cs typeface="Josefin Sans"/>
                <a:sym typeface="Josefin Sans"/>
              </a:rPr>
              <a:t>Static LULC classifications fail to capture agricultural economic depth. Future iterations will utilize multi-temporal imagery to calculate cropping intensity (single vs. double/triple cropping), which warrants a much higher weight in the economic index.</a:t>
            </a:r>
            <a:endParaRPr sz="1300">
              <a:solidFill>
                <a:schemeClr val="dk1"/>
              </a:solidFill>
              <a:latin typeface="Josefin Sans"/>
              <a:ea typeface="Josefin Sans"/>
              <a:cs typeface="Josefin Sans"/>
              <a:sym typeface="Josefin Sans"/>
            </a:endParaRPr>
          </a:p>
          <a:p>
            <a:pPr indent="-317500" lvl="0" marL="457200" rtl="0" algn="l">
              <a:spcBef>
                <a:spcPts val="0"/>
              </a:spcBef>
              <a:spcAft>
                <a:spcPts val="0"/>
              </a:spcAft>
              <a:buClr>
                <a:schemeClr val="dk1"/>
              </a:buClr>
              <a:buSzPts val="1400"/>
              <a:buFont typeface="Josefin Sans"/>
              <a:buChar char="●"/>
            </a:pPr>
            <a:r>
              <a:rPr b="1" lang="en" sz="1300">
                <a:solidFill>
                  <a:schemeClr val="dk1"/>
                </a:solidFill>
                <a:latin typeface="Josefin Sans"/>
                <a:ea typeface="Josefin Sans"/>
                <a:cs typeface="Josefin Sans"/>
                <a:sym typeface="Josefin Sans"/>
              </a:rPr>
              <a:t>Hierarchical Infrastructure Weighting:</a:t>
            </a:r>
            <a:r>
              <a:rPr lang="en" sz="1300">
                <a:solidFill>
                  <a:schemeClr val="dk1"/>
                </a:solidFill>
                <a:latin typeface="Josefin Sans"/>
                <a:ea typeface="Josefin Sans"/>
                <a:cs typeface="Josefin Sans"/>
                <a:sym typeface="Josefin Sans"/>
              </a:rPr>
              <a:t> Current OpenStreetMap historical extractions treat all road geometry equally. Future models will integrate road network typology to apply differential weights (e.g., distinguishing a multi-lane paved highway from an unpaved village track).</a:t>
            </a:r>
            <a:endParaRPr b="1" sz="1100">
              <a:solidFill>
                <a:schemeClr val="dk1"/>
              </a:solidFill>
            </a:endParaRPr>
          </a:p>
        </p:txBody>
      </p:sp>
      <p:graphicFrame>
        <p:nvGraphicFramePr>
          <p:cNvPr id="114" name="Google Shape;114;p19"/>
          <p:cNvGraphicFramePr/>
          <p:nvPr/>
        </p:nvGraphicFramePr>
        <p:xfrm>
          <a:off x="50825" y="3048000"/>
          <a:ext cx="3000000" cy="3000000"/>
        </p:xfrm>
        <a:graphic>
          <a:graphicData uri="http://schemas.openxmlformats.org/drawingml/2006/table">
            <a:tbl>
              <a:tblPr>
                <a:noFill/>
                <a:tableStyleId>{CDA8D01C-19A1-4183-8F4B-27D5D766EF26}</a:tableStyleId>
              </a:tblPr>
              <a:tblGrid>
                <a:gridCol w="1397875"/>
                <a:gridCol w="1479875"/>
                <a:gridCol w="6024950"/>
              </a:tblGrid>
              <a:tr h="240500">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Data Source</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Parameter Extracted</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Justification for Selection</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240500">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Survey of India (SOI)</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Administrative Boundaries</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The legally recognized, authoritative source for administrative boundaries in India.</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363450">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Dynamic World (10m LULC)</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Built-up, Cropland, Wasteland</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Provides 10m resolution data necessary for capturing changes at the village level. Utilizing a globally validated LULC data eliminates massive processing overhead involved with generating LULC from scratch.</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07100">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VIIRS (Stray-Light Corrected)</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Nightlight Radiance</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Offers superior spatial resolution (~500m) and radiometric calibration compared to legacy sensors. It avoids pixel saturation in dense areas, and the stray-light correction ensures highly accurate detection of faint rural electrification and subtle economic shifts.</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363450">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OpenStreetMap (OSM)</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Historical Road Density</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800">
                          <a:latin typeface="Josefin Sans"/>
                          <a:ea typeface="Josefin Sans"/>
                          <a:cs typeface="Josefin Sans"/>
                          <a:sym typeface="Josefin Sans"/>
                        </a:rPr>
                        <a:t>An open-source, highly granular database that captures minor village tracks and unpaved roads often missed by commercial datasets. Crucially, it supports temporal querying, allowing for exact historical baseline comparisons.</a:t>
                      </a:r>
                      <a:endParaRPr sz="800">
                        <a:latin typeface="Josefin Sans"/>
                        <a:ea typeface="Josefin Sans"/>
                        <a:cs typeface="Josefin Sans"/>
                        <a:sym typeface="Josefin Sans"/>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bl>
          </a:graphicData>
        </a:graphic>
      </p:graphicFrame>
      <p:sp>
        <p:nvSpPr>
          <p:cNvPr id="115" name="Google Shape;115;p19"/>
          <p:cNvSpPr txBox="1"/>
          <p:nvPr/>
        </p:nvSpPr>
        <p:spPr>
          <a:xfrm>
            <a:off x="50825" y="26448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Josefin Sans"/>
                <a:ea typeface="Josefin Sans"/>
                <a:cs typeface="Josefin Sans"/>
                <a:sym typeface="Josefin Sans"/>
              </a:rPr>
              <a:t>Data Source selection criteria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p:nvPr/>
        </p:nvSpPr>
        <p:spPr>
          <a:xfrm>
            <a:off x="1256798" y="2076450"/>
            <a:ext cx="6332467" cy="1314931"/>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lt2"/>
                </a:solidFill>
                <a:latin typeface="Josefin Sans"/>
              </a:rPr>
              <a:t>Thank you</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